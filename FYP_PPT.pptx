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Economica"/>
      <p:regular r:id="rId30"/>
      <p:bold r:id="rId31"/>
      <p:italic r:id="rId32"/>
      <p:boldItalic r:id="rId33"/>
    </p:embeddedFont>
    <p:embeddedFont>
      <p:font typeface="Roboto"/>
      <p:regular r:id="rId34"/>
      <p:bold r:id="rId35"/>
      <p:italic r:id="rId36"/>
      <p:boldItalic r:id="rId37"/>
    </p:embeddedFont>
    <p:embeddedFont>
      <p:font typeface="Lato"/>
      <p:regular r:id="rId38"/>
      <p:bold r:id="rId39"/>
      <p:italic r:id="rId40"/>
      <p:boldItalic r:id="rId41"/>
    </p:embeddedFont>
    <p:embeddedFont>
      <p:font typeface="Open Sans SemiBold"/>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59AD35-F31B-4E83-BC21-880A383EE11F}">
  <a:tblStyle styleId="{D159AD35-F31B-4E83-BC21-880A383EE1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OpenSansSemiBold-regular.fntdata"/><Relationship Id="rId41" Type="http://schemas.openxmlformats.org/officeDocument/2006/relationships/font" Target="fonts/Lato-boldItalic.fntdata"/><Relationship Id="rId44" Type="http://schemas.openxmlformats.org/officeDocument/2006/relationships/font" Target="fonts/OpenSansSemiBold-italic.fntdata"/><Relationship Id="rId43" Type="http://schemas.openxmlformats.org/officeDocument/2006/relationships/font" Target="fonts/OpenSansSemiBold-bold.fntdata"/><Relationship Id="rId46" Type="http://schemas.openxmlformats.org/officeDocument/2006/relationships/font" Target="fonts/OpenSans-regular.fntdata"/><Relationship Id="rId45" Type="http://schemas.openxmlformats.org/officeDocument/2006/relationships/font" Target="fonts/Open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Economica-bold.fntdata"/><Relationship Id="rId30" Type="http://schemas.openxmlformats.org/officeDocument/2006/relationships/font" Target="fonts/Economica-regular.fntdata"/><Relationship Id="rId33" Type="http://schemas.openxmlformats.org/officeDocument/2006/relationships/font" Target="fonts/Economica-boldItalic.fntdata"/><Relationship Id="rId32" Type="http://schemas.openxmlformats.org/officeDocument/2006/relationships/font" Target="fonts/Economica-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b5c4db62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b5c4db62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b35b2af1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b35b2af1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b35b2af1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b35b2af1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b5c4db62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b5c4db62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b35b2af18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b35b2af18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b5c4db62a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b5c4db62a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b5c4db62a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b5c4db62a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0b5c4db62a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0b5c4db62a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b56d52e4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b56d52e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b5c4db62a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b5c4db62a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0b56d52e4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0b56d52e4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0b35b2af1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0b35b2af1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0b56d52e4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0b56d52e4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b56d52e4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b56d52e4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0b5c4db62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0b5c4db62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b56d52e4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b56d52e4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b56d52e4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b56d52e4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0b35b2af18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0b35b2af18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0b35b2af1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0b35b2af1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0b5c4db62a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0b5c4db62a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0b35b2af18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0b35b2af18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b5c4db62a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b5c4db62a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unb.ca/cic/datasets/ids-2018.html" TargetMode="External"/><Relationship Id="rId4" Type="http://schemas.openxmlformats.org/officeDocument/2006/relationships/hyperlink" Target="https://www.unb.ca/cic/datasets/ids-2017.html" TargetMode="External"/><Relationship Id="rId5" Type="http://schemas.openxmlformats.org/officeDocument/2006/relationships/hyperlink" Target="https://www.unb.ca/cic/datasets/ids-2018.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mininet.org/" TargetMode="External"/><Relationship Id="rId4" Type="http://schemas.openxmlformats.org/officeDocument/2006/relationships/hyperlink" Target="https://www.openvswitch.org/" TargetMode="External"/><Relationship Id="rId5" Type="http://schemas.openxmlformats.org/officeDocument/2006/relationships/hyperlink" Target="https://www.google.com/recaptcha/abou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999325" y="731250"/>
            <a:ext cx="5242800" cy="368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4300"/>
              <a:t>SDN-based Intrusion Detection System for Mitigating </a:t>
            </a:r>
            <a:r>
              <a:rPr lang="en" sz="4300"/>
              <a:t>Automated Malicious Traffic</a:t>
            </a:r>
            <a:endParaRPr sz="4300"/>
          </a:p>
          <a:p>
            <a:pPr indent="0" lvl="0" marL="0" rtl="0" algn="l">
              <a:spcBef>
                <a:spcPts val="0"/>
              </a:spcBef>
              <a:spcAft>
                <a:spcPts val="0"/>
              </a:spcAft>
              <a:buSzPts val="990"/>
              <a:buNone/>
            </a:pPr>
            <a:r>
              <a:rPr lang="en" sz="4300"/>
              <a:t> Flows  </a:t>
            </a:r>
            <a:endParaRPr sz="4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979125" y="450150"/>
            <a:ext cx="67917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sz="2211"/>
              <a:t>PROJECT GUIDE</a:t>
            </a:r>
            <a:endParaRPr sz="2111"/>
          </a:p>
          <a:p>
            <a:pPr indent="0" lvl="0" marL="0" rtl="0" algn="l">
              <a:lnSpc>
                <a:spcPct val="115000"/>
              </a:lnSpc>
              <a:spcBef>
                <a:spcPts val="0"/>
              </a:spcBef>
              <a:spcAft>
                <a:spcPts val="0"/>
              </a:spcAft>
              <a:buNone/>
            </a:pPr>
            <a:r>
              <a:rPr lang="en" sz="1611">
                <a:latin typeface="Arial"/>
                <a:ea typeface="Arial"/>
                <a:cs typeface="Arial"/>
                <a:sym typeface="Arial"/>
              </a:rPr>
              <a:t>Dr. V. Vetriselvi</a:t>
            </a:r>
            <a:endParaRPr sz="1611">
              <a:latin typeface="Arial"/>
              <a:ea typeface="Arial"/>
              <a:cs typeface="Arial"/>
              <a:sym typeface="Arial"/>
            </a:endParaRPr>
          </a:p>
          <a:p>
            <a:pPr indent="0" lvl="0" marL="0" rtl="0" algn="l">
              <a:lnSpc>
                <a:spcPct val="115000"/>
              </a:lnSpc>
              <a:spcBef>
                <a:spcPts val="0"/>
              </a:spcBef>
              <a:spcAft>
                <a:spcPts val="0"/>
              </a:spcAft>
              <a:buNone/>
            </a:pPr>
            <a:r>
              <a:rPr lang="en" sz="1511">
                <a:latin typeface="Arial"/>
                <a:ea typeface="Arial"/>
                <a:cs typeface="Arial"/>
                <a:sym typeface="Arial"/>
              </a:rPr>
              <a:t>Professor,</a:t>
            </a:r>
            <a:endParaRPr sz="1511">
              <a:latin typeface="Arial"/>
              <a:ea typeface="Arial"/>
              <a:cs typeface="Arial"/>
              <a:sym typeface="Arial"/>
            </a:endParaRPr>
          </a:p>
          <a:p>
            <a:pPr indent="0" lvl="0" marL="0" rtl="0" algn="l">
              <a:lnSpc>
                <a:spcPct val="115000"/>
              </a:lnSpc>
              <a:spcBef>
                <a:spcPts val="0"/>
              </a:spcBef>
              <a:spcAft>
                <a:spcPts val="0"/>
              </a:spcAft>
              <a:buNone/>
            </a:pPr>
            <a:r>
              <a:rPr lang="en" sz="1511">
                <a:latin typeface="Arial"/>
                <a:ea typeface="Arial"/>
                <a:cs typeface="Arial"/>
                <a:sym typeface="Arial"/>
              </a:rPr>
              <a:t>Department of Computer Science and Engineering,</a:t>
            </a:r>
            <a:endParaRPr sz="1511">
              <a:latin typeface="Arial"/>
              <a:ea typeface="Arial"/>
              <a:cs typeface="Arial"/>
              <a:sym typeface="Arial"/>
            </a:endParaRPr>
          </a:p>
          <a:p>
            <a:pPr indent="0" lvl="0" marL="0" rtl="0" algn="l">
              <a:lnSpc>
                <a:spcPct val="115000"/>
              </a:lnSpc>
              <a:spcBef>
                <a:spcPts val="0"/>
              </a:spcBef>
              <a:spcAft>
                <a:spcPts val="0"/>
              </a:spcAft>
              <a:buNone/>
            </a:pPr>
            <a:r>
              <a:rPr lang="en" sz="1511">
                <a:latin typeface="Arial"/>
                <a:ea typeface="Arial"/>
                <a:cs typeface="Arial"/>
                <a:sym typeface="Arial"/>
              </a:rPr>
              <a:t>College of Engineering Guindy,</a:t>
            </a:r>
            <a:endParaRPr sz="1511">
              <a:latin typeface="Arial"/>
              <a:ea typeface="Arial"/>
              <a:cs typeface="Arial"/>
              <a:sym typeface="Arial"/>
            </a:endParaRPr>
          </a:p>
          <a:p>
            <a:pPr indent="0" lvl="0" marL="0" rtl="0" algn="l">
              <a:lnSpc>
                <a:spcPct val="115000"/>
              </a:lnSpc>
              <a:spcBef>
                <a:spcPts val="0"/>
              </a:spcBef>
              <a:spcAft>
                <a:spcPts val="0"/>
              </a:spcAft>
              <a:buNone/>
            </a:pPr>
            <a:r>
              <a:rPr lang="en" sz="1511">
                <a:latin typeface="Arial"/>
                <a:ea typeface="Arial"/>
                <a:cs typeface="Arial"/>
                <a:sym typeface="Arial"/>
              </a:rPr>
              <a:t>Anna University.</a:t>
            </a:r>
            <a:endParaRPr sz="1511">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r">
              <a:spcBef>
                <a:spcPts val="0"/>
              </a:spcBef>
              <a:spcAft>
                <a:spcPts val="0"/>
              </a:spcAft>
              <a:buNone/>
            </a:pPr>
            <a:r>
              <a:rPr lang="en" sz="2000"/>
              <a:t>TEAM MEMBERS</a:t>
            </a:r>
            <a:endParaRPr sz="2000"/>
          </a:p>
          <a:p>
            <a:pPr indent="0" lvl="0" marL="0" rtl="0" algn="r">
              <a:spcBef>
                <a:spcPts val="0"/>
              </a:spcBef>
              <a:spcAft>
                <a:spcPts val="0"/>
              </a:spcAft>
              <a:buClr>
                <a:schemeClr val="dk1"/>
              </a:buClr>
              <a:buSzPts val="1100"/>
              <a:buFont typeface="Arial"/>
              <a:buNone/>
            </a:pPr>
            <a:r>
              <a:rPr lang="en" sz="1500">
                <a:latin typeface="Lato"/>
                <a:ea typeface="Lato"/>
                <a:cs typeface="Lato"/>
                <a:sym typeface="Lato"/>
              </a:rPr>
              <a:t>Sobika S - 2018103067</a:t>
            </a:r>
            <a:endParaRPr sz="1500">
              <a:latin typeface="Lato"/>
              <a:ea typeface="Lato"/>
              <a:cs typeface="Lato"/>
              <a:sym typeface="Lato"/>
            </a:endParaRPr>
          </a:p>
          <a:p>
            <a:pPr indent="0" lvl="0" marL="0" rtl="0" algn="r">
              <a:spcBef>
                <a:spcPts val="0"/>
              </a:spcBef>
              <a:spcAft>
                <a:spcPts val="0"/>
              </a:spcAft>
              <a:buNone/>
            </a:pPr>
            <a:r>
              <a:rPr lang="en" sz="1500">
                <a:latin typeface="Lato"/>
                <a:ea typeface="Lato"/>
                <a:cs typeface="Lato"/>
                <a:sym typeface="Lato"/>
              </a:rPr>
              <a:t>Srinath S - 2018103070</a:t>
            </a:r>
            <a:endParaRPr sz="1500">
              <a:latin typeface="Lato"/>
              <a:ea typeface="Lato"/>
              <a:cs typeface="Lato"/>
              <a:sym typeface="Lato"/>
            </a:endParaRPr>
          </a:p>
          <a:p>
            <a:pPr indent="0" lvl="0" marL="0" rtl="0" algn="r">
              <a:spcBef>
                <a:spcPts val="0"/>
              </a:spcBef>
              <a:spcAft>
                <a:spcPts val="0"/>
              </a:spcAft>
              <a:buNone/>
            </a:pPr>
            <a:r>
              <a:rPr lang="en" sz="1500">
                <a:latin typeface="Lato"/>
                <a:ea typeface="Lato"/>
                <a:cs typeface="Lato"/>
                <a:sym typeface="Lato"/>
              </a:rPr>
              <a:t>Lekha Shanthini R - 2018103558</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73" name="Google Shape;73;p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sz="1300"/>
              <a:t>The Distributed Denial of Service (DDoS) attack has impaired network availability for decades with no effective defense mechanism against it. </a:t>
            </a:r>
            <a:endParaRPr sz="1300"/>
          </a:p>
          <a:p>
            <a:pPr indent="-311150" lvl="0" marL="457200" rtl="0" algn="l">
              <a:lnSpc>
                <a:spcPct val="115000"/>
              </a:lnSpc>
              <a:spcBef>
                <a:spcPts val="0"/>
              </a:spcBef>
              <a:spcAft>
                <a:spcPts val="0"/>
              </a:spcAft>
              <a:buSzPts val="1300"/>
              <a:buChar char="●"/>
            </a:pPr>
            <a:r>
              <a:rPr lang="en" sz="1300"/>
              <a:t>A DDoS attack disrupts the normal traffic of a targeted server, service or network by flooding the target or its surrounding infrastructure with Internet traffic.</a:t>
            </a:r>
            <a:endParaRPr sz="1300"/>
          </a:p>
          <a:p>
            <a:pPr indent="-311150" lvl="0" marL="457200" rtl="0" algn="l">
              <a:lnSpc>
                <a:spcPct val="115000"/>
              </a:lnSpc>
              <a:spcBef>
                <a:spcPts val="0"/>
              </a:spcBef>
              <a:spcAft>
                <a:spcPts val="0"/>
              </a:spcAft>
              <a:buSzPts val="1300"/>
              <a:buChar char="●"/>
            </a:pPr>
            <a:r>
              <a:rPr lang="en" sz="1300"/>
              <a:t>The emerging Software Defined Networking (SDN) provides a new way to reconsider the defense against DDoS attacks.</a:t>
            </a:r>
            <a:endParaRPr sz="1300"/>
          </a:p>
          <a:p>
            <a:pPr indent="-311150" lvl="0" marL="457200" rtl="0" algn="l">
              <a:lnSpc>
                <a:spcPct val="115000"/>
              </a:lnSpc>
              <a:spcBef>
                <a:spcPts val="0"/>
              </a:spcBef>
              <a:spcAft>
                <a:spcPts val="0"/>
              </a:spcAft>
              <a:buSzPts val="1300"/>
              <a:buChar char="●"/>
            </a:pPr>
            <a:r>
              <a:rPr lang="en" sz="1300"/>
              <a:t>The traditional IP router forms its routing table from BGP, Inter-AS or Intra-AS protocols. </a:t>
            </a:r>
            <a:endParaRPr sz="1300"/>
          </a:p>
          <a:p>
            <a:pPr indent="-311150" lvl="0" marL="457200" rtl="0" algn="l">
              <a:lnSpc>
                <a:spcPct val="115000"/>
              </a:lnSpc>
              <a:spcBef>
                <a:spcPts val="0"/>
              </a:spcBef>
              <a:spcAft>
                <a:spcPts val="0"/>
              </a:spcAft>
              <a:buSzPts val="1300"/>
              <a:buChar char="●"/>
            </a:pPr>
            <a:r>
              <a:rPr lang="en" sz="1300"/>
              <a:t>Doesn’t have the capability to analyse the flow or can’t </a:t>
            </a:r>
            <a:r>
              <a:rPr lang="en" sz="1300"/>
              <a:t>accommodate</a:t>
            </a:r>
            <a:r>
              <a:rPr lang="en" sz="1300"/>
              <a:t> applications to differentiate this traffic.</a:t>
            </a:r>
            <a:endParaRPr sz="1300"/>
          </a:p>
          <a:p>
            <a:pPr indent="-311150" lvl="0" marL="457200" rtl="0" algn="l">
              <a:lnSpc>
                <a:spcPct val="115000"/>
              </a:lnSpc>
              <a:spcBef>
                <a:spcPts val="0"/>
              </a:spcBef>
              <a:spcAft>
                <a:spcPts val="0"/>
              </a:spcAft>
              <a:buSzPts val="1300"/>
              <a:buChar char="●"/>
            </a:pPr>
            <a:r>
              <a:rPr lang="en" sz="1300"/>
              <a:t>Software-Defined Networks on the other hand, can </a:t>
            </a:r>
            <a:r>
              <a:rPr lang="en" sz="1300"/>
              <a:t>accommodate</a:t>
            </a:r>
            <a:r>
              <a:rPr lang="en" sz="1300"/>
              <a:t> applications that are capable of analysing and deploying mitigation measures in case of malicious flows.</a:t>
            </a:r>
            <a:endParaRPr sz="1300"/>
          </a:p>
          <a:p>
            <a:pPr indent="0" lvl="0" marL="457200" rtl="0" algn="l">
              <a:lnSpc>
                <a:spcPct val="115000"/>
              </a:lnSpc>
              <a:spcBef>
                <a:spcPts val="1200"/>
              </a:spcBef>
              <a:spcAft>
                <a:spcPts val="0"/>
              </a:spcAft>
              <a:buNone/>
            </a:pPr>
            <a:r>
              <a:t/>
            </a:r>
            <a:endParaRPr sz="1300"/>
          </a:p>
          <a:p>
            <a:pPr indent="0" lvl="0" marL="457200" rtl="0" algn="l">
              <a:lnSpc>
                <a:spcPct val="115000"/>
              </a:lnSpc>
              <a:spcBef>
                <a:spcPts val="1200"/>
              </a:spcBef>
              <a:spcAft>
                <a:spcPts val="1200"/>
              </a:spcAft>
              <a:buNone/>
            </a:pPr>
            <a:r>
              <a:rPr lang="en" sz="1300"/>
              <a:t> </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OVERALL OBJECTIVES</a:t>
            </a:r>
            <a:endParaRPr/>
          </a:p>
        </p:txBody>
      </p:sp>
      <p:sp>
        <p:nvSpPr>
          <p:cNvPr id="79" name="Google Shape;79;p16"/>
          <p:cNvSpPr txBox="1"/>
          <p:nvPr>
            <p:ph idx="1" type="body"/>
          </p:nvPr>
        </p:nvSpPr>
        <p:spPr>
          <a:xfrm>
            <a:off x="373675" y="154747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tackle the DDoS flow to our server</a:t>
            </a:r>
            <a:endParaRPr/>
          </a:p>
          <a:p>
            <a:pPr indent="-330200" lvl="0" marL="457200" rtl="0" algn="l">
              <a:spcBef>
                <a:spcPts val="1200"/>
              </a:spcBef>
              <a:spcAft>
                <a:spcPts val="0"/>
              </a:spcAft>
              <a:buSzPts val="1600"/>
              <a:buChar char="●"/>
            </a:pPr>
            <a:r>
              <a:rPr lang="en" sz="1600"/>
              <a:t>Integrate a feature extraction and classification application to detect any malicious flow entering the system.</a:t>
            </a:r>
            <a:endParaRPr sz="1600"/>
          </a:p>
          <a:p>
            <a:pPr indent="-330200" lvl="0" marL="457200" rtl="0" algn="l">
              <a:spcBef>
                <a:spcPts val="0"/>
              </a:spcBef>
              <a:spcAft>
                <a:spcPts val="0"/>
              </a:spcAft>
              <a:buSzPts val="1600"/>
              <a:buChar char="●"/>
            </a:pPr>
            <a:r>
              <a:rPr lang="en" sz="1600"/>
              <a:t>Make the system sensitive to suspicious flows. At the same time we also need to reduce the false positive rate as low as possible.</a:t>
            </a:r>
            <a:endParaRPr sz="1600"/>
          </a:p>
          <a:p>
            <a:pPr indent="-330200" lvl="0" marL="457200" rtl="0" algn="l">
              <a:spcBef>
                <a:spcPts val="0"/>
              </a:spcBef>
              <a:spcAft>
                <a:spcPts val="0"/>
              </a:spcAft>
              <a:buSzPts val="1600"/>
              <a:buChar char="●"/>
            </a:pPr>
            <a:r>
              <a:rPr lang="en" sz="1600"/>
              <a:t>Implement a defense mechanism to mitigate the attack by redirecting the malicious flow to a CAPTCHA server.</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LITERATURE SURVEY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aphicFrame>
        <p:nvGraphicFramePr>
          <p:cNvPr id="89" name="Google Shape;89;p18"/>
          <p:cNvGraphicFramePr/>
          <p:nvPr/>
        </p:nvGraphicFramePr>
        <p:xfrm>
          <a:off x="171700" y="159955"/>
          <a:ext cx="3000000" cy="3000000"/>
        </p:xfrm>
        <a:graphic>
          <a:graphicData uri="http://schemas.openxmlformats.org/drawingml/2006/table">
            <a:tbl>
              <a:tblPr>
                <a:noFill/>
                <a:tableStyleId>{D159AD35-F31B-4E83-BC21-880A383EE11F}</a:tableStyleId>
              </a:tblPr>
              <a:tblGrid>
                <a:gridCol w="430150"/>
                <a:gridCol w="915850"/>
                <a:gridCol w="1095600"/>
                <a:gridCol w="1438000"/>
                <a:gridCol w="1318700"/>
                <a:gridCol w="1217975"/>
                <a:gridCol w="1013575"/>
                <a:gridCol w="1368275"/>
              </a:tblGrid>
              <a:tr h="963300">
                <a:tc>
                  <a:txBody>
                    <a:bodyPr/>
                    <a:lstStyle/>
                    <a:p>
                      <a:pPr indent="0" lvl="0" marL="0" rtl="0" algn="l">
                        <a:spcBef>
                          <a:spcPts val="0"/>
                        </a:spcBef>
                        <a:spcAft>
                          <a:spcPts val="0"/>
                        </a:spcAft>
                        <a:buNone/>
                      </a:pPr>
                      <a:r>
                        <a:rPr b="1" lang="en"/>
                        <a:t>S.No</a:t>
                      </a:r>
                      <a:endParaRPr b="1"/>
                    </a:p>
                  </a:txBody>
                  <a:tcPr marT="91425" marB="91425" marR="91425" marL="91425"/>
                </a:tc>
                <a:tc>
                  <a:txBody>
                    <a:bodyPr/>
                    <a:lstStyle/>
                    <a:p>
                      <a:pPr indent="0" lvl="0" marL="0" rtl="0" algn="l">
                        <a:spcBef>
                          <a:spcPts val="0"/>
                        </a:spcBef>
                        <a:spcAft>
                          <a:spcPts val="0"/>
                        </a:spcAft>
                        <a:buNone/>
                      </a:pPr>
                      <a:r>
                        <a:rPr b="1" lang="en"/>
                        <a:t>TITLE</a:t>
                      </a:r>
                      <a:endParaRPr b="1"/>
                    </a:p>
                  </a:txBody>
                  <a:tcPr marT="91425" marB="91425" marR="91425" marL="91425"/>
                </a:tc>
                <a:tc>
                  <a:txBody>
                    <a:bodyPr/>
                    <a:lstStyle/>
                    <a:p>
                      <a:pPr indent="0" lvl="0" marL="0" rtl="0" algn="l">
                        <a:spcBef>
                          <a:spcPts val="0"/>
                        </a:spcBef>
                        <a:spcAft>
                          <a:spcPts val="0"/>
                        </a:spcAft>
                        <a:buNone/>
                      </a:pPr>
                      <a:r>
                        <a:rPr b="1" lang="en"/>
                        <a:t>AUTHORS</a:t>
                      </a:r>
                      <a:endParaRPr b="1"/>
                    </a:p>
                  </a:txBody>
                  <a:tcPr marT="91425" marB="91425" marR="91425" marL="91425"/>
                </a:tc>
                <a:tc>
                  <a:txBody>
                    <a:bodyPr/>
                    <a:lstStyle/>
                    <a:p>
                      <a:pPr indent="0" lvl="0" marL="0" rtl="0" algn="l">
                        <a:spcBef>
                          <a:spcPts val="0"/>
                        </a:spcBef>
                        <a:spcAft>
                          <a:spcPts val="0"/>
                        </a:spcAft>
                        <a:buNone/>
                      </a:pPr>
                      <a:r>
                        <a:rPr b="1" lang="en"/>
                        <a:t>PUBLICATION</a:t>
                      </a:r>
                      <a:endParaRPr b="1"/>
                    </a:p>
                  </a:txBody>
                  <a:tcPr marT="91425" marB="91425" marR="91425" marL="91425"/>
                </a:tc>
                <a:tc>
                  <a:txBody>
                    <a:bodyPr/>
                    <a:lstStyle/>
                    <a:p>
                      <a:pPr indent="0" lvl="0" marL="0" rtl="0" algn="l">
                        <a:spcBef>
                          <a:spcPts val="0"/>
                        </a:spcBef>
                        <a:spcAft>
                          <a:spcPts val="0"/>
                        </a:spcAft>
                        <a:buNone/>
                      </a:pPr>
                      <a:r>
                        <a:rPr b="1" lang="en"/>
                        <a:t>ADVANTAGE</a:t>
                      </a:r>
                      <a:endParaRPr b="1"/>
                    </a:p>
                  </a:txBody>
                  <a:tcPr marT="91425" marB="91425" marR="91425" marL="91425"/>
                </a:tc>
                <a:tc>
                  <a:txBody>
                    <a:bodyPr/>
                    <a:lstStyle/>
                    <a:p>
                      <a:pPr indent="0" lvl="0" marL="0" rtl="0" algn="l">
                        <a:spcBef>
                          <a:spcPts val="0"/>
                        </a:spcBef>
                        <a:spcAft>
                          <a:spcPts val="0"/>
                        </a:spcAft>
                        <a:buNone/>
                      </a:pPr>
                      <a:r>
                        <a:rPr b="1" lang="en"/>
                        <a:t>LIMITATION</a:t>
                      </a:r>
                      <a:endParaRPr b="1"/>
                    </a:p>
                  </a:txBody>
                  <a:tcPr marT="91425" marB="91425" marR="91425" marL="91425"/>
                </a:tc>
                <a:tc>
                  <a:txBody>
                    <a:bodyPr/>
                    <a:lstStyle/>
                    <a:p>
                      <a:pPr indent="0" lvl="0" marL="0" rtl="0" algn="l">
                        <a:spcBef>
                          <a:spcPts val="0"/>
                        </a:spcBef>
                        <a:spcAft>
                          <a:spcPts val="0"/>
                        </a:spcAft>
                        <a:buNone/>
                      </a:pPr>
                      <a:r>
                        <a:rPr b="1" lang="en"/>
                        <a:t>DATASET</a:t>
                      </a:r>
                      <a:endParaRPr b="1"/>
                    </a:p>
                  </a:txBody>
                  <a:tcPr marT="91425" marB="91425" marR="91425" marL="91425"/>
                </a:tc>
                <a:tc>
                  <a:txBody>
                    <a:bodyPr/>
                    <a:lstStyle/>
                    <a:p>
                      <a:pPr indent="0" lvl="0" marL="0" rtl="0" algn="l">
                        <a:spcBef>
                          <a:spcPts val="0"/>
                        </a:spcBef>
                        <a:spcAft>
                          <a:spcPts val="0"/>
                        </a:spcAft>
                        <a:buNone/>
                      </a:pPr>
                      <a:r>
                        <a:rPr b="1" lang="en"/>
                        <a:t>ALGORITHM</a:t>
                      </a:r>
                      <a:endParaRPr b="1"/>
                    </a:p>
                  </a:txBody>
                  <a:tcPr marT="91425" marB="91425" marR="91425" marL="91425"/>
                </a:tc>
              </a:tr>
              <a:tr h="6261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A cooperative DDoS attack detection</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scheme based on entropy and ensemble</a:t>
                      </a:r>
                      <a:endParaRPr sz="1000">
                        <a:solidFill>
                          <a:schemeClr val="dk1"/>
                        </a:solidFill>
                      </a:endParaRPr>
                    </a:p>
                    <a:p>
                      <a:pPr indent="0" lvl="0" marL="0" rtl="0" algn="l">
                        <a:spcBef>
                          <a:spcPts val="0"/>
                        </a:spcBef>
                        <a:spcAft>
                          <a:spcPts val="0"/>
                        </a:spcAft>
                        <a:buNone/>
                      </a:pPr>
                      <a:r>
                        <a:rPr lang="en" sz="1000">
                          <a:solidFill>
                            <a:schemeClr val="dk1"/>
                          </a:solidFill>
                        </a:rPr>
                        <a:t>learning in SDN</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Shanshan Yu, Jicheng Zhang,</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Ju Liu, Xiaoqing Zhang,</a:t>
                      </a:r>
                      <a:endParaRPr sz="1000">
                        <a:solidFill>
                          <a:schemeClr val="dk1"/>
                        </a:solidFill>
                      </a:endParaRPr>
                    </a:p>
                    <a:p>
                      <a:pPr indent="0" lvl="0" marL="0" rtl="0" algn="l">
                        <a:spcBef>
                          <a:spcPts val="0"/>
                        </a:spcBef>
                        <a:spcAft>
                          <a:spcPts val="0"/>
                        </a:spcAft>
                        <a:buNone/>
                      </a:pPr>
                      <a:r>
                        <a:rPr lang="en" sz="1000">
                          <a:solidFill>
                            <a:schemeClr val="dk1"/>
                          </a:solidFill>
                        </a:rPr>
                        <a:t>Yafeng Li, Tianfeng Xu</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EURASIP Journal on Wireless</a:t>
                      </a:r>
                      <a:endParaRPr sz="1000">
                        <a:solidFill>
                          <a:schemeClr val="dk1"/>
                        </a:solidFill>
                      </a:endParaRPr>
                    </a:p>
                    <a:p>
                      <a:pPr indent="0" lvl="0" marL="0" rtl="0" algn="l">
                        <a:spcBef>
                          <a:spcPts val="0"/>
                        </a:spcBef>
                        <a:spcAft>
                          <a:spcPts val="0"/>
                        </a:spcAft>
                        <a:buNone/>
                      </a:pPr>
                      <a:r>
                        <a:rPr lang="en" sz="1000">
                          <a:solidFill>
                            <a:schemeClr val="dk1"/>
                          </a:solidFill>
                        </a:rPr>
                        <a:t>Communications and Networking, 2021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employs a coarse grained entropy detection and fine grained</a:t>
                      </a:r>
                      <a:endParaRPr sz="1000">
                        <a:solidFill>
                          <a:schemeClr val="dk1"/>
                        </a:solidFill>
                      </a:endParaRPr>
                    </a:p>
                    <a:p>
                      <a:pPr indent="0" lvl="0" marL="0" rtl="0" algn="l">
                        <a:spcBef>
                          <a:spcPts val="0"/>
                        </a:spcBef>
                        <a:spcAft>
                          <a:spcPts val="0"/>
                        </a:spcAft>
                        <a:buNone/>
                      </a:pPr>
                      <a:r>
                        <a:rPr lang="en" sz="1000">
                          <a:solidFill>
                            <a:schemeClr val="dk1"/>
                          </a:solidFill>
                        </a:rPr>
                        <a:t>classification using random forests and CART.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Mitigation measure is very</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primitive where false positives</a:t>
                      </a:r>
                      <a:endParaRPr sz="1000">
                        <a:solidFill>
                          <a:schemeClr val="dk1"/>
                        </a:solidFill>
                      </a:endParaRPr>
                    </a:p>
                    <a:p>
                      <a:pPr indent="0" lvl="0" marL="0" rtl="0" algn="l">
                        <a:spcBef>
                          <a:spcPts val="0"/>
                        </a:spcBef>
                        <a:spcAft>
                          <a:spcPts val="0"/>
                        </a:spcAft>
                        <a:buNone/>
                      </a:pPr>
                      <a:r>
                        <a:rPr lang="en" sz="1000">
                          <a:solidFill>
                            <a:schemeClr val="dk1"/>
                          </a:solidFill>
                        </a:rPr>
                        <a:t>might block legit users.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Generated attack and</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normal traffic using</a:t>
                      </a:r>
                      <a:endParaRPr sz="1000">
                        <a:solidFill>
                          <a:schemeClr val="dk1"/>
                        </a:solidFill>
                      </a:endParaRPr>
                    </a:p>
                    <a:p>
                      <a:pPr indent="0" lvl="0" marL="0" rtl="0" algn="l">
                        <a:spcBef>
                          <a:spcPts val="0"/>
                        </a:spcBef>
                        <a:spcAft>
                          <a:spcPts val="0"/>
                        </a:spcAft>
                        <a:buNone/>
                      </a:pPr>
                      <a:r>
                        <a:rPr lang="en" sz="1000">
                          <a:solidFill>
                            <a:schemeClr val="dk1"/>
                          </a:solidFill>
                        </a:rPr>
                        <a:t>scapy and nettich-ng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Random Forest,</a:t>
                      </a:r>
                      <a:endParaRPr sz="1000">
                        <a:solidFill>
                          <a:schemeClr val="dk1"/>
                        </a:solidFill>
                      </a:endParaRPr>
                    </a:p>
                    <a:p>
                      <a:pPr indent="0" lvl="0" marL="0" rtl="0" algn="l">
                        <a:spcBef>
                          <a:spcPts val="0"/>
                        </a:spcBef>
                        <a:spcAft>
                          <a:spcPts val="0"/>
                        </a:spcAft>
                        <a:buNone/>
                      </a:pPr>
                      <a:r>
                        <a:rPr lang="en" sz="1000">
                          <a:solidFill>
                            <a:schemeClr val="dk1"/>
                          </a:solidFill>
                        </a:rPr>
                        <a:t>CART</a:t>
                      </a:r>
                      <a:endParaRPr/>
                    </a:p>
                  </a:txBody>
                  <a:tcPr marT="91425" marB="91425" marR="91425" marL="91425"/>
                </a:tc>
              </a:tr>
              <a:tr h="626175">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A New Framework for DDoS Attack Detection</a:t>
                      </a:r>
                      <a:endParaRPr sz="1000">
                        <a:solidFill>
                          <a:schemeClr val="dk1"/>
                        </a:solidFill>
                      </a:endParaRPr>
                    </a:p>
                    <a:p>
                      <a:pPr indent="0" lvl="0" marL="0" rtl="0" algn="l">
                        <a:spcBef>
                          <a:spcPts val="0"/>
                        </a:spcBef>
                        <a:spcAft>
                          <a:spcPts val="0"/>
                        </a:spcAft>
                        <a:buNone/>
                      </a:pPr>
                      <a:r>
                        <a:rPr lang="en" sz="1000">
                          <a:solidFill>
                            <a:schemeClr val="dk1"/>
                          </a:solidFill>
                        </a:rPr>
                        <a:t>and Defense in SDN Environment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Liang Tan, Yue Pan,</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Jing Wu, Jianguo Zhou,</a:t>
                      </a:r>
                      <a:endParaRPr sz="1000">
                        <a:solidFill>
                          <a:schemeClr val="dk1"/>
                        </a:solidFill>
                      </a:endParaRPr>
                    </a:p>
                    <a:p>
                      <a:pPr indent="0" lvl="0" marL="0" rtl="0" algn="l">
                        <a:spcBef>
                          <a:spcPts val="0"/>
                        </a:spcBef>
                        <a:spcAft>
                          <a:spcPts val="0"/>
                        </a:spcAft>
                        <a:buNone/>
                      </a:pPr>
                      <a:r>
                        <a:rPr lang="en" sz="1000">
                          <a:solidFill>
                            <a:schemeClr val="dk1"/>
                          </a:solidFill>
                        </a:rPr>
                        <a:t>Hao Jiang, Yuchuan Deng</a:t>
                      </a:r>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IEEE Access, Vol. 8, 2020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Provides an effective classification method combining KNN and</a:t>
                      </a:r>
                      <a:endParaRPr sz="1000">
                        <a:solidFill>
                          <a:schemeClr val="dk1"/>
                        </a:solidFill>
                      </a:endParaRPr>
                    </a:p>
                    <a:p>
                      <a:pPr indent="0" lvl="0" marL="0" rtl="0" algn="l">
                        <a:spcBef>
                          <a:spcPts val="0"/>
                        </a:spcBef>
                        <a:spcAft>
                          <a:spcPts val="0"/>
                        </a:spcAft>
                        <a:buNone/>
                      </a:pPr>
                      <a:r>
                        <a:rPr lang="en" sz="1000">
                          <a:solidFill>
                            <a:schemeClr val="dk1"/>
                          </a:solidFill>
                        </a:rPr>
                        <a:t>K-Means Algorithm and provides a defensive mechanism</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Places huge burden on controller</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and does not scale to large scale</a:t>
                      </a:r>
                      <a:endParaRPr sz="1000">
                        <a:solidFill>
                          <a:schemeClr val="dk1"/>
                        </a:solidFill>
                      </a:endParaRPr>
                    </a:p>
                    <a:p>
                      <a:pPr indent="0" lvl="0" marL="0" rtl="0" algn="l">
                        <a:spcBef>
                          <a:spcPts val="0"/>
                        </a:spcBef>
                        <a:spcAft>
                          <a:spcPts val="0"/>
                        </a:spcAft>
                        <a:buNone/>
                      </a:pPr>
                      <a:r>
                        <a:rPr lang="en" sz="1000">
                          <a:solidFill>
                            <a:schemeClr val="dk1"/>
                          </a:solidFill>
                        </a:rPr>
                        <a:t>traffic</a:t>
                      </a:r>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NSL-KDD</a:t>
                      </a:r>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K-Means, KNN</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aphicFrame>
        <p:nvGraphicFramePr>
          <p:cNvPr id="94" name="Google Shape;94;p19"/>
          <p:cNvGraphicFramePr/>
          <p:nvPr/>
        </p:nvGraphicFramePr>
        <p:xfrm>
          <a:off x="171700" y="159955"/>
          <a:ext cx="3000000" cy="3000000"/>
        </p:xfrm>
        <a:graphic>
          <a:graphicData uri="http://schemas.openxmlformats.org/drawingml/2006/table">
            <a:tbl>
              <a:tblPr>
                <a:noFill/>
                <a:tableStyleId>{D159AD35-F31B-4E83-BC21-880A383EE11F}</a:tableStyleId>
              </a:tblPr>
              <a:tblGrid>
                <a:gridCol w="430150"/>
                <a:gridCol w="915850"/>
                <a:gridCol w="1095600"/>
                <a:gridCol w="1425600"/>
                <a:gridCol w="1306300"/>
                <a:gridCol w="1230375"/>
                <a:gridCol w="1025975"/>
                <a:gridCol w="1368275"/>
              </a:tblGrid>
              <a:tr h="963300">
                <a:tc>
                  <a:txBody>
                    <a:bodyPr/>
                    <a:lstStyle/>
                    <a:p>
                      <a:pPr indent="0" lvl="0" marL="0" rtl="0" algn="l">
                        <a:spcBef>
                          <a:spcPts val="0"/>
                        </a:spcBef>
                        <a:spcAft>
                          <a:spcPts val="0"/>
                        </a:spcAft>
                        <a:buNone/>
                      </a:pPr>
                      <a:r>
                        <a:rPr b="1" lang="en"/>
                        <a:t>S.No</a:t>
                      </a:r>
                      <a:endParaRPr b="1"/>
                    </a:p>
                  </a:txBody>
                  <a:tcPr marT="91425" marB="91425" marR="91425" marL="91425"/>
                </a:tc>
                <a:tc>
                  <a:txBody>
                    <a:bodyPr/>
                    <a:lstStyle/>
                    <a:p>
                      <a:pPr indent="0" lvl="0" marL="0" rtl="0" algn="l">
                        <a:spcBef>
                          <a:spcPts val="0"/>
                        </a:spcBef>
                        <a:spcAft>
                          <a:spcPts val="0"/>
                        </a:spcAft>
                        <a:buNone/>
                      </a:pPr>
                      <a:r>
                        <a:rPr b="1" lang="en"/>
                        <a:t>TITLE</a:t>
                      </a:r>
                      <a:endParaRPr b="1"/>
                    </a:p>
                  </a:txBody>
                  <a:tcPr marT="91425" marB="91425" marR="91425" marL="91425"/>
                </a:tc>
                <a:tc>
                  <a:txBody>
                    <a:bodyPr/>
                    <a:lstStyle/>
                    <a:p>
                      <a:pPr indent="0" lvl="0" marL="0" rtl="0" algn="l">
                        <a:spcBef>
                          <a:spcPts val="0"/>
                        </a:spcBef>
                        <a:spcAft>
                          <a:spcPts val="0"/>
                        </a:spcAft>
                        <a:buNone/>
                      </a:pPr>
                      <a:r>
                        <a:rPr b="1" lang="en"/>
                        <a:t>AUTHORS</a:t>
                      </a:r>
                      <a:endParaRPr b="1"/>
                    </a:p>
                  </a:txBody>
                  <a:tcPr marT="91425" marB="91425" marR="91425" marL="91425"/>
                </a:tc>
                <a:tc>
                  <a:txBody>
                    <a:bodyPr/>
                    <a:lstStyle/>
                    <a:p>
                      <a:pPr indent="0" lvl="0" marL="0" rtl="0" algn="l">
                        <a:spcBef>
                          <a:spcPts val="0"/>
                        </a:spcBef>
                        <a:spcAft>
                          <a:spcPts val="0"/>
                        </a:spcAft>
                        <a:buNone/>
                      </a:pPr>
                      <a:r>
                        <a:rPr b="1" lang="en"/>
                        <a:t>PUBLICATION</a:t>
                      </a:r>
                      <a:endParaRPr b="1"/>
                    </a:p>
                  </a:txBody>
                  <a:tcPr marT="91425" marB="91425" marR="91425" marL="91425"/>
                </a:tc>
                <a:tc>
                  <a:txBody>
                    <a:bodyPr/>
                    <a:lstStyle/>
                    <a:p>
                      <a:pPr indent="0" lvl="0" marL="0" rtl="0" algn="l">
                        <a:spcBef>
                          <a:spcPts val="0"/>
                        </a:spcBef>
                        <a:spcAft>
                          <a:spcPts val="0"/>
                        </a:spcAft>
                        <a:buNone/>
                      </a:pPr>
                      <a:r>
                        <a:rPr b="1" lang="en"/>
                        <a:t>ADVANTAGE</a:t>
                      </a:r>
                      <a:endParaRPr b="1"/>
                    </a:p>
                  </a:txBody>
                  <a:tcPr marT="91425" marB="91425" marR="91425" marL="91425"/>
                </a:tc>
                <a:tc>
                  <a:txBody>
                    <a:bodyPr/>
                    <a:lstStyle/>
                    <a:p>
                      <a:pPr indent="0" lvl="0" marL="0" rtl="0" algn="l">
                        <a:spcBef>
                          <a:spcPts val="0"/>
                        </a:spcBef>
                        <a:spcAft>
                          <a:spcPts val="0"/>
                        </a:spcAft>
                        <a:buNone/>
                      </a:pPr>
                      <a:r>
                        <a:rPr b="1" lang="en"/>
                        <a:t>LIMITATION</a:t>
                      </a:r>
                      <a:endParaRPr b="1"/>
                    </a:p>
                  </a:txBody>
                  <a:tcPr marT="91425" marB="91425" marR="91425" marL="91425"/>
                </a:tc>
                <a:tc>
                  <a:txBody>
                    <a:bodyPr/>
                    <a:lstStyle/>
                    <a:p>
                      <a:pPr indent="0" lvl="0" marL="0" rtl="0" algn="l">
                        <a:spcBef>
                          <a:spcPts val="0"/>
                        </a:spcBef>
                        <a:spcAft>
                          <a:spcPts val="0"/>
                        </a:spcAft>
                        <a:buNone/>
                      </a:pPr>
                      <a:r>
                        <a:rPr b="1" lang="en"/>
                        <a:t>DATASET</a:t>
                      </a:r>
                      <a:endParaRPr b="1"/>
                    </a:p>
                  </a:txBody>
                  <a:tcPr marT="91425" marB="91425" marR="91425" marL="91425"/>
                </a:tc>
                <a:tc>
                  <a:txBody>
                    <a:bodyPr/>
                    <a:lstStyle/>
                    <a:p>
                      <a:pPr indent="0" lvl="0" marL="0" rtl="0" algn="l">
                        <a:spcBef>
                          <a:spcPts val="0"/>
                        </a:spcBef>
                        <a:spcAft>
                          <a:spcPts val="0"/>
                        </a:spcAft>
                        <a:buNone/>
                      </a:pPr>
                      <a:r>
                        <a:rPr b="1" lang="en"/>
                        <a:t>ALGORITHM</a:t>
                      </a:r>
                      <a:endParaRPr b="1"/>
                    </a:p>
                  </a:txBody>
                  <a:tcPr marT="91425" marB="91425" marR="91425" marL="91425"/>
                </a:tc>
              </a:tr>
              <a:tr h="626175">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Smart detection: an online approach for DoS/DDoS</a:t>
                      </a:r>
                      <a:endParaRPr sz="1000">
                        <a:solidFill>
                          <a:schemeClr val="dk1"/>
                        </a:solidFill>
                      </a:endParaRPr>
                    </a:p>
                    <a:p>
                      <a:pPr indent="0" lvl="0" marL="0" rtl="0" algn="l">
                        <a:spcBef>
                          <a:spcPts val="0"/>
                        </a:spcBef>
                        <a:spcAft>
                          <a:spcPts val="0"/>
                        </a:spcAft>
                        <a:buNone/>
                      </a:pPr>
                      <a:r>
                        <a:rPr lang="en" sz="1000">
                          <a:solidFill>
                            <a:schemeClr val="dk1"/>
                          </a:solidFill>
                        </a:rPr>
                        <a:t>attack detection using machine learning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Francisco Sales de Lima Filho,</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Frederico AF Silveira,</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Agostinho de Medeiros Brito</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Junior, Genoveva Vargas-Solar,</a:t>
                      </a:r>
                      <a:endParaRPr sz="1000">
                        <a:solidFill>
                          <a:schemeClr val="dk1"/>
                        </a:solidFill>
                      </a:endParaRPr>
                    </a:p>
                    <a:p>
                      <a:pPr indent="0" lvl="0" marL="0" rtl="0" algn="l">
                        <a:spcBef>
                          <a:spcPts val="0"/>
                        </a:spcBef>
                        <a:spcAft>
                          <a:spcPts val="0"/>
                        </a:spcAft>
                        <a:buNone/>
                      </a:pPr>
                      <a:r>
                        <a:rPr lang="en" sz="1000">
                          <a:solidFill>
                            <a:schemeClr val="dk1"/>
                          </a:solidFill>
                        </a:rPr>
                        <a:t>Luiz F Silveira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Hindawi</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Security and Communication Networks</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Volume 2019, Article ID 1574749</a:t>
                      </a:r>
                      <a:endParaRPr sz="1000">
                        <a:solidFill>
                          <a:schemeClr val="dk1"/>
                        </a:solidFill>
                      </a:endParaRPr>
                    </a:p>
                    <a:p>
                      <a:pPr indent="0" lvl="0" marL="0" rtl="0" algn="l">
                        <a:spcBef>
                          <a:spcPts val="0"/>
                        </a:spcBef>
                        <a:spcAft>
                          <a:spcPts val="0"/>
                        </a:spcAft>
                        <a:buNone/>
                      </a:pPr>
                      <a:r>
                        <a:rPr lang="en" sz="1000">
                          <a:solidFill>
                            <a:schemeClr val="dk1"/>
                          </a:solidFill>
                        </a:rPr>
                        <a:t>https://doi.org/10.1155/2019/1574749</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Used a sampled dataset sourced from various benchmark</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datasets to make an efficient online classification system using</a:t>
                      </a:r>
                      <a:endParaRPr sz="1000">
                        <a:solidFill>
                          <a:schemeClr val="dk1"/>
                        </a:solidFill>
                      </a:endParaRPr>
                    </a:p>
                    <a:p>
                      <a:pPr indent="0" lvl="0" marL="0" rtl="0" algn="l">
                        <a:spcBef>
                          <a:spcPts val="0"/>
                        </a:spcBef>
                        <a:spcAft>
                          <a:spcPts val="0"/>
                        </a:spcAft>
                        <a:buNone/>
                      </a:pPr>
                      <a:r>
                        <a:rPr lang="en" sz="1000">
                          <a:solidFill>
                            <a:schemeClr val="dk1"/>
                          </a:solidFill>
                        </a:rPr>
                        <a:t>the random forest algorithm.</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Does not deal with a mitigation</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that could deal with the</a:t>
                      </a:r>
                      <a:endParaRPr sz="1000">
                        <a:solidFill>
                          <a:schemeClr val="dk1"/>
                        </a:solidFill>
                      </a:endParaRPr>
                    </a:p>
                    <a:p>
                      <a:pPr indent="0" lvl="0" marL="0" rtl="0" algn="l">
                        <a:spcBef>
                          <a:spcPts val="0"/>
                        </a:spcBef>
                        <a:spcAft>
                          <a:spcPts val="0"/>
                        </a:spcAft>
                        <a:buNone/>
                      </a:pPr>
                      <a:r>
                        <a:rPr lang="en" sz="1000">
                          <a:solidFill>
                            <a:schemeClr val="dk1"/>
                          </a:solidFill>
                        </a:rPr>
                        <a:t>malicious traffic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CIC-Dos, CICIDS2017,</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CSE-CIC-IDS2018 and</a:t>
                      </a:r>
                      <a:endParaRPr sz="1000">
                        <a:solidFill>
                          <a:schemeClr val="dk1"/>
                        </a:solidFill>
                      </a:endParaRPr>
                    </a:p>
                    <a:p>
                      <a:pPr indent="0" lvl="0" marL="0" rtl="0" algn="l">
                        <a:spcBef>
                          <a:spcPts val="0"/>
                        </a:spcBef>
                        <a:spcAft>
                          <a:spcPts val="0"/>
                        </a:spcAft>
                        <a:buNone/>
                      </a:pPr>
                      <a:r>
                        <a:rPr lang="en" sz="1000">
                          <a:solidFill>
                            <a:schemeClr val="dk1"/>
                          </a:solidFill>
                        </a:rPr>
                        <a:t>customised dataset</a:t>
                      </a:r>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Random Forest</a:t>
                      </a:r>
                      <a:endParaRPr/>
                    </a:p>
                  </a:txBody>
                  <a:tcPr marT="91425" marB="91425" marR="91425" marL="91425"/>
                </a:tc>
              </a:tr>
              <a:tr h="626175">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Denial of Services Attack Detection using Random</a:t>
                      </a:r>
                      <a:endParaRPr sz="1000">
                        <a:solidFill>
                          <a:schemeClr val="dk1"/>
                        </a:solidFill>
                      </a:endParaRPr>
                    </a:p>
                    <a:p>
                      <a:pPr indent="0" lvl="0" marL="0" rtl="0" algn="l">
                        <a:spcBef>
                          <a:spcPts val="0"/>
                        </a:spcBef>
                        <a:spcAft>
                          <a:spcPts val="0"/>
                        </a:spcAft>
                        <a:buNone/>
                      </a:pPr>
                      <a:r>
                        <a:rPr lang="en" sz="1000">
                          <a:solidFill>
                            <a:schemeClr val="dk1"/>
                          </a:solidFill>
                        </a:rPr>
                        <a:t>Forest Classifier with Information Gain</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Dr. Sanjay Agrawal,</a:t>
                      </a:r>
                      <a:endParaRPr sz="1000">
                        <a:solidFill>
                          <a:schemeClr val="dk1"/>
                        </a:solidFill>
                      </a:endParaRPr>
                    </a:p>
                    <a:p>
                      <a:pPr indent="0" lvl="0" marL="0" rtl="0" algn="l">
                        <a:spcBef>
                          <a:spcPts val="0"/>
                        </a:spcBef>
                        <a:spcAft>
                          <a:spcPts val="0"/>
                        </a:spcAft>
                        <a:buNone/>
                      </a:pPr>
                      <a:r>
                        <a:rPr lang="en" sz="1000">
                          <a:solidFill>
                            <a:schemeClr val="dk1"/>
                          </a:solidFill>
                        </a:rPr>
                        <a:t>Reena Singh Rajput</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International Journal of Engineering</a:t>
                      </a:r>
                      <a:endParaRPr sz="1000">
                        <a:solidFill>
                          <a:schemeClr val="dk1"/>
                        </a:solidFill>
                      </a:endParaRPr>
                    </a:p>
                    <a:p>
                      <a:pPr indent="0" lvl="0" marL="0" rtl="0" algn="l">
                        <a:spcBef>
                          <a:spcPts val="0"/>
                        </a:spcBef>
                        <a:spcAft>
                          <a:spcPts val="0"/>
                        </a:spcAft>
                        <a:buNone/>
                      </a:pPr>
                      <a:r>
                        <a:rPr lang="en" sz="1000">
                          <a:solidFill>
                            <a:schemeClr val="dk1"/>
                          </a:solidFill>
                        </a:rPr>
                        <a:t>Development and Research, 2017</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Achieves high F-Score and accuracy</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using Random Forest and better</a:t>
                      </a:r>
                      <a:endParaRPr sz="1000">
                        <a:solidFill>
                          <a:schemeClr val="dk1"/>
                        </a:solidFill>
                      </a:endParaRPr>
                    </a:p>
                    <a:p>
                      <a:pPr indent="0" lvl="0" marL="0" rtl="0" algn="l">
                        <a:spcBef>
                          <a:spcPts val="0"/>
                        </a:spcBef>
                        <a:spcAft>
                          <a:spcPts val="0"/>
                        </a:spcAft>
                        <a:buNone/>
                      </a:pPr>
                      <a:r>
                        <a:rPr lang="en" sz="1000">
                          <a:solidFill>
                            <a:schemeClr val="dk1"/>
                          </a:solidFill>
                        </a:rPr>
                        <a:t>feature selection using Information Gain</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Outdated dataset and was not</a:t>
                      </a:r>
                      <a:endParaRPr sz="1000">
                        <a:solidFill>
                          <a:schemeClr val="dk1"/>
                        </a:solidFill>
                      </a:endParaRPr>
                    </a:p>
                    <a:p>
                      <a:pPr indent="0" lvl="0" marL="0" rtl="0" algn="l">
                        <a:spcBef>
                          <a:spcPts val="0"/>
                        </a:spcBef>
                        <a:spcAft>
                          <a:spcPts val="0"/>
                        </a:spcAft>
                        <a:buNone/>
                      </a:pPr>
                      <a:r>
                        <a:rPr lang="en" sz="1000">
                          <a:solidFill>
                            <a:schemeClr val="dk1"/>
                          </a:solidFill>
                        </a:rPr>
                        <a:t>real time</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NSL-KDD</a:t>
                      </a:r>
                      <a:endParaRPr/>
                    </a:p>
                  </a:txBody>
                  <a:tcPr marT="91425" marB="91425" marR="91425" marL="91425">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Random Forest</a:t>
                      </a:r>
                      <a:endParaRPr/>
                    </a:p>
                  </a:txBody>
                  <a:tcPr marT="91425" marB="91425" marR="91425" marL="91425">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aphicFrame>
        <p:nvGraphicFramePr>
          <p:cNvPr id="99" name="Google Shape;99;p20"/>
          <p:cNvGraphicFramePr/>
          <p:nvPr/>
        </p:nvGraphicFramePr>
        <p:xfrm>
          <a:off x="171700" y="159955"/>
          <a:ext cx="3000000" cy="3000000"/>
        </p:xfrm>
        <a:graphic>
          <a:graphicData uri="http://schemas.openxmlformats.org/drawingml/2006/table">
            <a:tbl>
              <a:tblPr>
                <a:noFill/>
                <a:tableStyleId>{D159AD35-F31B-4E83-BC21-880A383EE11F}</a:tableStyleId>
              </a:tblPr>
              <a:tblGrid>
                <a:gridCol w="442525"/>
                <a:gridCol w="903475"/>
                <a:gridCol w="1095600"/>
                <a:gridCol w="1437975"/>
                <a:gridCol w="1306325"/>
                <a:gridCol w="1217975"/>
                <a:gridCol w="1025975"/>
                <a:gridCol w="1368275"/>
              </a:tblGrid>
              <a:tr h="963300">
                <a:tc>
                  <a:txBody>
                    <a:bodyPr/>
                    <a:lstStyle/>
                    <a:p>
                      <a:pPr indent="0" lvl="0" marL="0" rtl="0" algn="l">
                        <a:spcBef>
                          <a:spcPts val="0"/>
                        </a:spcBef>
                        <a:spcAft>
                          <a:spcPts val="0"/>
                        </a:spcAft>
                        <a:buNone/>
                      </a:pPr>
                      <a:r>
                        <a:rPr b="1" lang="en"/>
                        <a:t>S.No</a:t>
                      </a:r>
                      <a:endParaRPr b="1"/>
                    </a:p>
                  </a:txBody>
                  <a:tcPr marT="91425" marB="91425" marR="91425" marL="91425"/>
                </a:tc>
                <a:tc>
                  <a:txBody>
                    <a:bodyPr/>
                    <a:lstStyle/>
                    <a:p>
                      <a:pPr indent="0" lvl="0" marL="0" rtl="0" algn="l">
                        <a:spcBef>
                          <a:spcPts val="0"/>
                        </a:spcBef>
                        <a:spcAft>
                          <a:spcPts val="0"/>
                        </a:spcAft>
                        <a:buNone/>
                      </a:pPr>
                      <a:r>
                        <a:rPr b="1" lang="en"/>
                        <a:t>TITLE</a:t>
                      </a:r>
                      <a:endParaRPr b="1"/>
                    </a:p>
                  </a:txBody>
                  <a:tcPr marT="91425" marB="91425" marR="91425" marL="91425"/>
                </a:tc>
                <a:tc>
                  <a:txBody>
                    <a:bodyPr/>
                    <a:lstStyle/>
                    <a:p>
                      <a:pPr indent="0" lvl="0" marL="0" rtl="0" algn="l">
                        <a:spcBef>
                          <a:spcPts val="0"/>
                        </a:spcBef>
                        <a:spcAft>
                          <a:spcPts val="0"/>
                        </a:spcAft>
                        <a:buNone/>
                      </a:pPr>
                      <a:r>
                        <a:rPr b="1" lang="en"/>
                        <a:t>AUTHORS</a:t>
                      </a:r>
                      <a:endParaRPr b="1"/>
                    </a:p>
                  </a:txBody>
                  <a:tcPr marT="91425" marB="91425" marR="91425" marL="91425"/>
                </a:tc>
                <a:tc>
                  <a:txBody>
                    <a:bodyPr/>
                    <a:lstStyle/>
                    <a:p>
                      <a:pPr indent="0" lvl="0" marL="0" rtl="0" algn="l">
                        <a:spcBef>
                          <a:spcPts val="0"/>
                        </a:spcBef>
                        <a:spcAft>
                          <a:spcPts val="0"/>
                        </a:spcAft>
                        <a:buNone/>
                      </a:pPr>
                      <a:r>
                        <a:rPr b="1" lang="en"/>
                        <a:t>PUBLICATION</a:t>
                      </a:r>
                      <a:endParaRPr b="1"/>
                    </a:p>
                  </a:txBody>
                  <a:tcPr marT="91425" marB="91425" marR="91425" marL="91425"/>
                </a:tc>
                <a:tc>
                  <a:txBody>
                    <a:bodyPr/>
                    <a:lstStyle/>
                    <a:p>
                      <a:pPr indent="0" lvl="0" marL="0" rtl="0" algn="l">
                        <a:spcBef>
                          <a:spcPts val="0"/>
                        </a:spcBef>
                        <a:spcAft>
                          <a:spcPts val="0"/>
                        </a:spcAft>
                        <a:buNone/>
                      </a:pPr>
                      <a:r>
                        <a:rPr b="1" lang="en"/>
                        <a:t>ADVANTAGE</a:t>
                      </a:r>
                      <a:endParaRPr b="1"/>
                    </a:p>
                  </a:txBody>
                  <a:tcPr marT="91425" marB="91425" marR="91425" marL="91425"/>
                </a:tc>
                <a:tc>
                  <a:txBody>
                    <a:bodyPr/>
                    <a:lstStyle/>
                    <a:p>
                      <a:pPr indent="0" lvl="0" marL="0" rtl="0" algn="l">
                        <a:spcBef>
                          <a:spcPts val="0"/>
                        </a:spcBef>
                        <a:spcAft>
                          <a:spcPts val="0"/>
                        </a:spcAft>
                        <a:buNone/>
                      </a:pPr>
                      <a:r>
                        <a:rPr b="1" lang="en"/>
                        <a:t>LIMITATION</a:t>
                      </a:r>
                      <a:endParaRPr b="1"/>
                    </a:p>
                  </a:txBody>
                  <a:tcPr marT="91425" marB="91425" marR="91425" marL="91425"/>
                </a:tc>
                <a:tc>
                  <a:txBody>
                    <a:bodyPr/>
                    <a:lstStyle/>
                    <a:p>
                      <a:pPr indent="0" lvl="0" marL="0" rtl="0" algn="l">
                        <a:spcBef>
                          <a:spcPts val="0"/>
                        </a:spcBef>
                        <a:spcAft>
                          <a:spcPts val="0"/>
                        </a:spcAft>
                        <a:buNone/>
                      </a:pPr>
                      <a:r>
                        <a:rPr b="1" lang="en"/>
                        <a:t>DATASET</a:t>
                      </a:r>
                      <a:endParaRPr b="1"/>
                    </a:p>
                  </a:txBody>
                  <a:tcPr marT="91425" marB="91425" marR="91425" marL="91425"/>
                </a:tc>
                <a:tc>
                  <a:txBody>
                    <a:bodyPr/>
                    <a:lstStyle/>
                    <a:p>
                      <a:pPr indent="0" lvl="0" marL="0" rtl="0" algn="l">
                        <a:spcBef>
                          <a:spcPts val="0"/>
                        </a:spcBef>
                        <a:spcAft>
                          <a:spcPts val="0"/>
                        </a:spcAft>
                        <a:buNone/>
                      </a:pPr>
                      <a:r>
                        <a:rPr b="1" lang="en"/>
                        <a:t>ALGORITHM</a:t>
                      </a:r>
                      <a:endParaRPr b="1"/>
                    </a:p>
                  </a:txBody>
                  <a:tcPr marT="91425" marB="91425" marR="91425" marL="91425"/>
                </a:tc>
              </a:tr>
              <a:tr h="626175">
                <a:tc>
                  <a:txBody>
                    <a:bodyPr/>
                    <a:lstStyle/>
                    <a:p>
                      <a:pPr indent="0" lvl="0" marL="0" rtl="0" algn="l">
                        <a:spcBef>
                          <a:spcPts val="0"/>
                        </a:spcBef>
                        <a:spcAft>
                          <a:spcPts val="0"/>
                        </a:spcAft>
                        <a:buNone/>
                      </a:pPr>
                      <a:r>
                        <a:rPr lang="en"/>
                        <a:t>5</a:t>
                      </a:r>
                      <a:endParaRPr/>
                    </a:p>
                  </a:txBody>
                  <a:tcPr marT="91425" marB="91425" marR="91425" marL="91425">
                    <a:lnR cap="flat" cmpd="sng" w="9525">
                      <a:solidFill>
                        <a:srgbClr val="CCCCCC"/>
                      </a:solidFill>
                      <a:prstDash val="solid"/>
                      <a:round/>
                      <a:headEnd len="sm" w="sm" type="none"/>
                      <a:tailEnd len="sm" w="sm" type="none"/>
                    </a:lnR>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Detection of DNS DDoS Attacks with Random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Forest Algorithm on Spark</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Liguo Chen, Yuedong Zhang,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Qi Zhao, Guanggang Geng,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ZhiWei Yan</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The 2nd International Workshop on Big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Data and Networks Technologies, 2018</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A novel method to reduce the DDoS traffic on TLD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servers is introduced using Random Forests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The technique is limited to DNS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traffic and cannot be extended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to other types of traffic</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Query logs collected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during Water Torture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attack of .CN site in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Hong Kong in 2015</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Random Forest</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B cap="flat" cmpd="sng" w="9525">
                      <a:solidFill>
                        <a:srgbClr val="CCCCCC"/>
                      </a:solidFill>
                      <a:prstDash val="solid"/>
                      <a:round/>
                      <a:headEnd len="sm" w="sm" type="none"/>
                      <a:tailEnd len="sm" w="sm" type="none"/>
                    </a:lnB>
                  </a:tcPr>
                </a:tc>
              </a:tr>
              <a:tr h="626175">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Detection of Distributed Denial of Service Attacks</a:t>
                      </a:r>
                      <a:endParaRPr sz="1000">
                        <a:solidFill>
                          <a:schemeClr val="dk1"/>
                        </a:solidFill>
                      </a:endParaRPr>
                    </a:p>
                    <a:p>
                      <a:pPr indent="0" lvl="0" marL="0" rtl="0" algn="l">
                        <a:spcBef>
                          <a:spcPts val="0"/>
                        </a:spcBef>
                        <a:spcAft>
                          <a:spcPts val="0"/>
                        </a:spcAft>
                        <a:buNone/>
                      </a:pPr>
                      <a:r>
                        <a:rPr lang="en" sz="1000">
                          <a:solidFill>
                            <a:schemeClr val="dk1"/>
                          </a:solidFill>
                        </a:rPr>
                        <a:t>using Machine Learning Algorithms in Software</a:t>
                      </a:r>
                      <a:endParaRPr sz="1000">
                        <a:solidFill>
                          <a:schemeClr val="dk1"/>
                        </a:solidFill>
                      </a:endParaRPr>
                    </a:p>
                    <a:p>
                      <a:pPr indent="0" lvl="0" marL="0" rtl="0" algn="l">
                        <a:spcBef>
                          <a:spcPts val="0"/>
                        </a:spcBef>
                        <a:spcAft>
                          <a:spcPts val="0"/>
                        </a:spcAft>
                        <a:buNone/>
                      </a:pPr>
                      <a:r>
                        <a:rPr lang="en" sz="1000">
                          <a:solidFill>
                            <a:schemeClr val="dk1"/>
                          </a:solidFill>
                        </a:rPr>
                        <a:t>Defined Networks</a:t>
                      </a:r>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Nisharani Meti, Narayan D G,</a:t>
                      </a:r>
                      <a:endParaRPr sz="1000">
                        <a:solidFill>
                          <a:schemeClr val="dk1"/>
                        </a:solidFill>
                      </a:endParaRPr>
                    </a:p>
                    <a:p>
                      <a:pPr indent="0" lvl="0" marL="0" rtl="0" algn="l">
                        <a:spcBef>
                          <a:spcPts val="0"/>
                        </a:spcBef>
                        <a:spcAft>
                          <a:spcPts val="0"/>
                        </a:spcAft>
                        <a:buNone/>
                      </a:pPr>
                      <a:r>
                        <a:rPr lang="en" sz="1000">
                          <a:solidFill>
                            <a:schemeClr val="dk1"/>
                          </a:solidFill>
                        </a:rPr>
                        <a:t>V. P. Baligar</a:t>
                      </a:r>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International Conference on Advances in</a:t>
                      </a:r>
                      <a:endParaRPr sz="1000">
                        <a:solidFill>
                          <a:schemeClr val="dk1"/>
                        </a:solidFill>
                      </a:endParaRPr>
                    </a:p>
                    <a:p>
                      <a:pPr indent="0" lvl="0" marL="0" rtl="0" algn="l">
                        <a:spcBef>
                          <a:spcPts val="0"/>
                        </a:spcBef>
                        <a:spcAft>
                          <a:spcPts val="0"/>
                        </a:spcAft>
                        <a:buNone/>
                      </a:pPr>
                      <a:r>
                        <a:rPr lang="en" sz="1000">
                          <a:solidFill>
                            <a:schemeClr val="dk1"/>
                          </a:solidFill>
                        </a:rPr>
                        <a:t>Computing, Communications and</a:t>
                      </a:r>
                      <a:endParaRPr sz="1000">
                        <a:solidFill>
                          <a:schemeClr val="dk1"/>
                        </a:solidFill>
                      </a:endParaRPr>
                    </a:p>
                    <a:p>
                      <a:pPr indent="0" lvl="0" marL="0" rtl="0" algn="l">
                        <a:spcBef>
                          <a:spcPts val="0"/>
                        </a:spcBef>
                        <a:spcAft>
                          <a:spcPts val="0"/>
                        </a:spcAft>
                        <a:buNone/>
                      </a:pPr>
                      <a:r>
                        <a:rPr lang="en" sz="1000">
                          <a:solidFill>
                            <a:schemeClr val="dk1"/>
                          </a:solidFill>
                        </a:rPr>
                        <a:t>Informatics (ICACCI), 2017</a:t>
                      </a:r>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Compared the performance of Bayes, support vector machine</a:t>
                      </a:r>
                      <a:endParaRPr sz="1000">
                        <a:solidFill>
                          <a:schemeClr val="dk1"/>
                        </a:solidFill>
                      </a:endParaRPr>
                    </a:p>
                    <a:p>
                      <a:pPr indent="0" lvl="0" marL="0" rtl="0" algn="l">
                        <a:spcBef>
                          <a:spcPts val="0"/>
                        </a:spcBef>
                        <a:spcAft>
                          <a:spcPts val="0"/>
                        </a:spcAft>
                        <a:buNone/>
                      </a:pPr>
                      <a:r>
                        <a:rPr lang="en" sz="1000">
                          <a:solidFill>
                            <a:schemeClr val="dk1"/>
                          </a:solidFill>
                        </a:rPr>
                        <a:t>and neural network methods in detecting DDoS attacks, and</a:t>
                      </a:r>
                      <a:endParaRPr sz="1000">
                        <a:solidFill>
                          <a:schemeClr val="dk1"/>
                        </a:solidFill>
                      </a:endParaRPr>
                    </a:p>
                    <a:p>
                      <a:pPr indent="0" lvl="0" marL="0" rtl="0" algn="l">
                        <a:spcBef>
                          <a:spcPts val="0"/>
                        </a:spcBef>
                        <a:spcAft>
                          <a:spcPts val="0"/>
                        </a:spcAft>
                        <a:buNone/>
                      </a:pPr>
                      <a:r>
                        <a:rPr lang="en" sz="1000">
                          <a:solidFill>
                            <a:schemeClr val="dk1"/>
                          </a:solidFill>
                        </a:rPr>
                        <a:t>found the performance of SVM is the best.</a:t>
                      </a:r>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Focuses only on the TCP traffic</a:t>
                      </a:r>
                      <a:endParaRPr sz="1000">
                        <a:solidFill>
                          <a:schemeClr val="dk1"/>
                        </a:solidFill>
                      </a:endParaRPr>
                    </a:p>
                    <a:p>
                      <a:pPr indent="0" lvl="0" marL="0" rtl="0" algn="l">
                        <a:spcBef>
                          <a:spcPts val="0"/>
                        </a:spcBef>
                        <a:spcAft>
                          <a:spcPts val="0"/>
                        </a:spcAft>
                        <a:buNone/>
                      </a:pPr>
                      <a:r>
                        <a:rPr lang="en" sz="1000">
                          <a:solidFill>
                            <a:schemeClr val="dk1"/>
                          </a:solidFill>
                        </a:rPr>
                        <a:t>and cannot be extended to</a:t>
                      </a:r>
                      <a:endParaRPr sz="1000">
                        <a:solidFill>
                          <a:schemeClr val="dk1"/>
                        </a:solidFill>
                      </a:endParaRPr>
                    </a:p>
                    <a:p>
                      <a:pPr indent="0" lvl="0" marL="0" rtl="0" algn="l">
                        <a:spcBef>
                          <a:spcPts val="0"/>
                        </a:spcBef>
                        <a:spcAft>
                          <a:spcPts val="0"/>
                        </a:spcAft>
                        <a:buNone/>
                      </a:pPr>
                      <a:r>
                        <a:rPr lang="en" sz="1000">
                          <a:solidFill>
                            <a:schemeClr val="dk1"/>
                          </a:solidFill>
                        </a:rPr>
                        <a:t>other traffic types</a:t>
                      </a:r>
                      <a:endParaRPr>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Real time traffic collected</a:t>
                      </a:r>
                      <a:endParaRPr sz="1000">
                        <a:solidFill>
                          <a:schemeClr val="dk1"/>
                        </a:solidFill>
                      </a:endParaRPr>
                    </a:p>
                    <a:p>
                      <a:pPr indent="0" lvl="0" marL="0" rtl="0" algn="l">
                        <a:spcBef>
                          <a:spcPts val="0"/>
                        </a:spcBef>
                        <a:spcAft>
                          <a:spcPts val="0"/>
                        </a:spcAft>
                        <a:buNone/>
                      </a:pPr>
                      <a:r>
                        <a:rPr lang="en" sz="1000">
                          <a:solidFill>
                            <a:schemeClr val="dk1"/>
                          </a:solidFill>
                        </a:rPr>
                        <a:t>in Lawrence Berkley</a:t>
                      </a:r>
                      <a:endParaRPr sz="1000">
                        <a:solidFill>
                          <a:schemeClr val="dk1"/>
                        </a:solidFill>
                      </a:endParaRPr>
                    </a:p>
                    <a:p>
                      <a:pPr indent="0" lvl="0" marL="0" rtl="0" algn="l">
                        <a:spcBef>
                          <a:spcPts val="0"/>
                        </a:spcBef>
                        <a:spcAft>
                          <a:spcPts val="0"/>
                        </a:spcAft>
                        <a:buNone/>
                      </a:pPr>
                      <a:r>
                        <a:rPr lang="en" sz="1000">
                          <a:solidFill>
                            <a:schemeClr val="dk1"/>
                          </a:solidFill>
                        </a:rPr>
                        <a:t>Laboratory</a:t>
                      </a:r>
                      <a:endParaRPr sz="1000">
                        <a:solidFill>
                          <a:schemeClr val="dk1"/>
                        </a:solidFill>
                      </a:endParaRPr>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rPr lang="en" sz="1000">
                          <a:solidFill>
                            <a:schemeClr val="dk1"/>
                          </a:solidFill>
                        </a:rPr>
                        <a:t>SVM, Neural Network</a:t>
                      </a:r>
                      <a:endParaRPr/>
                    </a:p>
                  </a:txBody>
                  <a:tcPr marT="91425" marB="91425" marR="91425" marL="91425">
                    <a:lnT cap="flat" cmpd="sng" w="9525">
                      <a:solidFill>
                        <a:srgbClr val="CCCCCC"/>
                      </a:solidFill>
                      <a:prstDash val="solid"/>
                      <a:round/>
                      <a:headEnd len="sm" w="sm" type="none"/>
                      <a:tailEnd len="sm" w="sm" type="none"/>
                    </a:lnT>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ARCHITECTURE DIAGRAM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2"/>
          <p:cNvPicPr preferRelativeResize="0"/>
          <p:nvPr/>
        </p:nvPicPr>
        <p:blipFill>
          <a:blip r:embed="rId3">
            <a:alphaModFix/>
          </a:blip>
          <a:stretch>
            <a:fillRect/>
          </a:stretch>
        </p:blipFill>
        <p:spPr>
          <a:xfrm>
            <a:off x="152400" y="152400"/>
            <a:ext cx="8839204" cy="44929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BLOCK DIAGRAM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4"/>
          <p:cNvPicPr preferRelativeResize="0"/>
          <p:nvPr/>
        </p:nvPicPr>
        <p:blipFill>
          <a:blip r:embed="rId3">
            <a:alphaModFix/>
          </a:blip>
          <a:stretch>
            <a:fillRect/>
          </a:stretch>
        </p:blipFill>
        <p:spPr>
          <a:xfrm>
            <a:off x="152400" y="152400"/>
            <a:ext cx="8750420"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MODULES</a:t>
            </a:r>
            <a:endParaRPr/>
          </a:p>
        </p:txBody>
      </p:sp>
      <p:sp>
        <p:nvSpPr>
          <p:cNvPr id="125" name="Google Shape;125;p25"/>
          <p:cNvSpPr txBox="1"/>
          <p:nvPr>
            <p:ph idx="1" type="body"/>
          </p:nvPr>
        </p:nvSpPr>
        <p:spPr>
          <a:xfrm>
            <a:off x="623400" y="1547475"/>
            <a:ext cx="8520600" cy="3354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AutoNum type="arabicPeriod"/>
            </a:pPr>
            <a:r>
              <a:rPr lang="en"/>
              <a:t>Feature</a:t>
            </a:r>
            <a:r>
              <a:rPr lang="en"/>
              <a:t> Extraction, Training and Classification</a:t>
            </a:r>
            <a:endParaRPr/>
          </a:p>
          <a:p>
            <a:pPr indent="-342900" lvl="0" marL="457200" rtl="0" algn="l">
              <a:lnSpc>
                <a:spcPct val="150000"/>
              </a:lnSpc>
              <a:spcBef>
                <a:spcPts val="0"/>
              </a:spcBef>
              <a:spcAft>
                <a:spcPts val="0"/>
              </a:spcAft>
              <a:buSzPts val="1800"/>
              <a:buAutoNum type="arabicPeriod"/>
            </a:pPr>
            <a:r>
              <a:rPr lang="en"/>
              <a:t>CAPTCHA Engine</a:t>
            </a:r>
            <a:endParaRPr/>
          </a:p>
          <a:p>
            <a:pPr indent="-342900" lvl="0" marL="457200" rtl="0" algn="l">
              <a:lnSpc>
                <a:spcPct val="150000"/>
              </a:lnSpc>
              <a:spcBef>
                <a:spcPts val="0"/>
              </a:spcBef>
              <a:spcAft>
                <a:spcPts val="0"/>
              </a:spcAft>
              <a:buSzPts val="1800"/>
              <a:buAutoNum type="arabicPeriod"/>
            </a:pPr>
            <a:r>
              <a:rPr lang="en"/>
              <a:t>Deploying Northbound APIs</a:t>
            </a:r>
            <a:endParaRPr/>
          </a:p>
          <a:p>
            <a:pPr indent="-342900" lvl="0" marL="457200" rtl="0" algn="l">
              <a:lnSpc>
                <a:spcPct val="150000"/>
              </a:lnSpc>
              <a:spcBef>
                <a:spcPts val="0"/>
              </a:spcBef>
              <a:spcAft>
                <a:spcPts val="0"/>
              </a:spcAft>
              <a:buSzPts val="1800"/>
              <a:buAutoNum type="arabicPeriod"/>
            </a:pPr>
            <a:r>
              <a:rPr lang="en"/>
              <a:t>Flow Rule Assignment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495300" lvl="0" marL="457200" rtl="0" algn="l">
              <a:spcBef>
                <a:spcPts val="0"/>
              </a:spcBef>
              <a:spcAft>
                <a:spcPts val="0"/>
              </a:spcAft>
              <a:buSzPts val="4200"/>
              <a:buAutoNum type="arabicPeriod"/>
            </a:pPr>
            <a:r>
              <a:rPr lang="en"/>
              <a:t>Feature Extraction, Training &amp; Classification</a:t>
            </a:r>
            <a:endParaRPr/>
          </a:p>
        </p:txBody>
      </p:sp>
      <p:sp>
        <p:nvSpPr>
          <p:cNvPr id="131" name="Google Shape;131;p26"/>
          <p:cNvSpPr txBox="1"/>
          <p:nvPr>
            <p:ph idx="1" type="body"/>
          </p:nvPr>
        </p:nvSpPr>
        <p:spPr>
          <a:xfrm>
            <a:off x="311700" y="1225225"/>
            <a:ext cx="8520600" cy="305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t>INPUT</a:t>
            </a:r>
            <a:r>
              <a:rPr lang="en" sz="1300"/>
              <a:t> : Flow statistics from Controller</a:t>
            </a:r>
            <a:endParaRPr sz="1300"/>
          </a:p>
          <a:p>
            <a:pPr indent="0" lvl="0" marL="0" rtl="0" algn="l">
              <a:spcBef>
                <a:spcPts val="1200"/>
              </a:spcBef>
              <a:spcAft>
                <a:spcPts val="0"/>
              </a:spcAft>
              <a:buNone/>
            </a:pPr>
            <a:r>
              <a:rPr b="1" lang="en" sz="1300"/>
              <a:t>OUTPUT</a:t>
            </a:r>
            <a:r>
              <a:rPr lang="en" sz="1300"/>
              <a:t> : Packet count, Byte count,  Duration of flow,  Packet per flow, Bytes per flow,  Packet rate, etc</a:t>
            </a:r>
            <a:endParaRPr sz="1300"/>
          </a:p>
          <a:p>
            <a:pPr indent="0" lvl="0" marL="0" rtl="0" algn="l">
              <a:spcBef>
                <a:spcPts val="1200"/>
              </a:spcBef>
              <a:spcAft>
                <a:spcPts val="1200"/>
              </a:spcAft>
              <a:buNone/>
            </a:pPr>
            <a:r>
              <a:t/>
            </a:r>
            <a:endParaRPr sz="1300"/>
          </a:p>
        </p:txBody>
      </p:sp>
      <p:pic>
        <p:nvPicPr>
          <p:cNvPr id="132" name="Google Shape;132;p26"/>
          <p:cNvPicPr preferRelativeResize="0"/>
          <p:nvPr/>
        </p:nvPicPr>
        <p:blipFill rotWithShape="1">
          <a:blip r:embed="rId3">
            <a:alphaModFix/>
          </a:blip>
          <a:srcRect b="53045" l="0" r="0" t="23820"/>
          <a:stretch/>
        </p:blipFill>
        <p:spPr>
          <a:xfrm>
            <a:off x="541138" y="2347950"/>
            <a:ext cx="8061725" cy="1398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 C</a:t>
            </a:r>
            <a:r>
              <a:rPr lang="en"/>
              <a:t>aptcha Engine</a:t>
            </a:r>
            <a:endParaRPr/>
          </a:p>
        </p:txBody>
      </p:sp>
      <p:sp>
        <p:nvSpPr>
          <p:cNvPr id="138" name="Google Shape;138;p27"/>
          <p:cNvSpPr txBox="1"/>
          <p:nvPr>
            <p:ph idx="1" type="body"/>
          </p:nvPr>
        </p:nvSpPr>
        <p:spPr>
          <a:xfrm>
            <a:off x="446175" y="1239400"/>
            <a:ext cx="7824900" cy="3226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300"/>
              <a:t>CASE - I</a:t>
            </a:r>
            <a:endParaRPr sz="1300"/>
          </a:p>
          <a:p>
            <a:pPr indent="0" lvl="0" marL="0" rtl="0" algn="l">
              <a:spcBef>
                <a:spcPts val="1200"/>
              </a:spcBef>
              <a:spcAft>
                <a:spcPts val="0"/>
              </a:spcAft>
              <a:buNone/>
            </a:pPr>
            <a:r>
              <a:rPr b="1" lang="en" sz="1300"/>
              <a:t>INPUT </a:t>
            </a:r>
            <a:r>
              <a:rPr lang="en" sz="1300"/>
              <a:t>:  Redirected source packet of malicious traffic </a:t>
            </a:r>
            <a:endParaRPr sz="1300"/>
          </a:p>
          <a:p>
            <a:pPr indent="0" lvl="0" marL="0" rtl="0" algn="l">
              <a:spcBef>
                <a:spcPts val="1200"/>
              </a:spcBef>
              <a:spcAft>
                <a:spcPts val="0"/>
              </a:spcAft>
              <a:buNone/>
            </a:pPr>
            <a:r>
              <a:rPr b="1" lang="en" sz="1300"/>
              <a:t>OUTPUT </a:t>
            </a:r>
            <a:r>
              <a:rPr lang="en" sz="1300"/>
              <a:t>: Recaptcha Challenge to the malicious</a:t>
            </a:r>
            <a:endParaRPr sz="1300"/>
          </a:p>
          <a:p>
            <a:pPr indent="0" lvl="0" marL="0" rtl="0" algn="l">
              <a:spcBef>
                <a:spcPts val="1200"/>
              </a:spcBef>
              <a:spcAft>
                <a:spcPts val="0"/>
              </a:spcAft>
              <a:buNone/>
            </a:pPr>
            <a:r>
              <a:t/>
            </a:r>
            <a:endParaRPr sz="1300"/>
          </a:p>
          <a:p>
            <a:pPr indent="0" lvl="0" marL="0" rtl="0" algn="l">
              <a:spcBef>
                <a:spcPts val="1200"/>
              </a:spcBef>
              <a:spcAft>
                <a:spcPts val="0"/>
              </a:spcAft>
              <a:buClr>
                <a:schemeClr val="dk1"/>
              </a:buClr>
              <a:buSzPts val="1100"/>
              <a:buFont typeface="Arial"/>
              <a:buNone/>
            </a:pPr>
            <a:r>
              <a:rPr lang="en" sz="1300"/>
              <a:t>CASE - II</a:t>
            </a:r>
            <a:endParaRPr sz="1300"/>
          </a:p>
          <a:p>
            <a:pPr indent="0" lvl="0" marL="0" rtl="0" algn="l">
              <a:spcBef>
                <a:spcPts val="1200"/>
              </a:spcBef>
              <a:spcAft>
                <a:spcPts val="0"/>
              </a:spcAft>
              <a:buClr>
                <a:schemeClr val="dk1"/>
              </a:buClr>
              <a:buSzPts val="1100"/>
              <a:buFont typeface="Arial"/>
              <a:buNone/>
            </a:pPr>
            <a:r>
              <a:rPr b="1" lang="en" sz="1300"/>
              <a:t>INPUT</a:t>
            </a:r>
            <a:r>
              <a:rPr lang="en" sz="1300"/>
              <a:t>: Redirected captcha response</a:t>
            </a:r>
            <a:endParaRPr sz="1300"/>
          </a:p>
          <a:p>
            <a:pPr indent="0" lvl="0" marL="0" rtl="0" algn="l">
              <a:spcBef>
                <a:spcPts val="1200"/>
              </a:spcBef>
              <a:spcAft>
                <a:spcPts val="0"/>
              </a:spcAft>
              <a:buClr>
                <a:schemeClr val="dk1"/>
              </a:buClr>
              <a:buSzPts val="1100"/>
              <a:buFont typeface="Arial"/>
              <a:buNone/>
            </a:pPr>
            <a:r>
              <a:rPr b="1" lang="en" sz="1300"/>
              <a:t>OUTPUT </a:t>
            </a:r>
            <a:r>
              <a:rPr lang="en" sz="1300"/>
              <a:t>: API call to Controller to flag IP as legit and redirect to server. </a:t>
            </a:r>
            <a:endParaRPr sz="1300"/>
          </a:p>
          <a:p>
            <a:pPr indent="0" lvl="0" marL="0" rtl="0" algn="l">
              <a:spcBef>
                <a:spcPts val="1200"/>
              </a:spcBef>
              <a:spcAft>
                <a:spcPts val="0"/>
              </a:spcAft>
              <a:buNone/>
            </a:pPr>
            <a:r>
              <a:t/>
            </a:r>
            <a:endParaRPr sz="1300"/>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 Captcha Engine</a:t>
            </a:r>
            <a:endParaRPr/>
          </a:p>
        </p:txBody>
      </p:sp>
      <p:pic>
        <p:nvPicPr>
          <p:cNvPr id="144" name="Google Shape;144;p28"/>
          <p:cNvPicPr preferRelativeResize="0"/>
          <p:nvPr/>
        </p:nvPicPr>
        <p:blipFill rotWithShape="1">
          <a:blip r:embed="rId3">
            <a:alphaModFix/>
          </a:blip>
          <a:srcRect b="29819" l="0" r="6550" t="0"/>
          <a:stretch/>
        </p:blipFill>
        <p:spPr>
          <a:xfrm>
            <a:off x="1784225" y="1147225"/>
            <a:ext cx="6257399" cy="3524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204375"/>
            <a:ext cx="8520600" cy="1010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3. Deploying Northbound APIs</a:t>
            </a:r>
            <a:endParaRPr/>
          </a:p>
        </p:txBody>
      </p:sp>
      <p:sp>
        <p:nvSpPr>
          <p:cNvPr id="150" name="Google Shape;150;p29"/>
          <p:cNvSpPr txBox="1"/>
          <p:nvPr>
            <p:ph idx="1" type="body"/>
          </p:nvPr>
        </p:nvSpPr>
        <p:spPr>
          <a:xfrm>
            <a:off x="235475" y="1747575"/>
            <a:ext cx="8596800" cy="283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1200"/>
              <a:t>This is the communication middleware for the </a:t>
            </a:r>
            <a:endParaRPr i="1" sz="1200"/>
          </a:p>
          <a:p>
            <a:pPr indent="0" lvl="0" marL="0" rtl="0" algn="l">
              <a:spcBef>
                <a:spcPts val="0"/>
              </a:spcBef>
              <a:spcAft>
                <a:spcPts val="0"/>
              </a:spcAft>
              <a:buNone/>
            </a:pPr>
            <a:r>
              <a:rPr i="1" lang="en" sz="1200"/>
              <a:t>Control Plane - Application Plane communication.</a:t>
            </a:r>
            <a:endParaRPr i="1" sz="1200"/>
          </a:p>
          <a:p>
            <a:pPr indent="0" lvl="0" marL="0" rtl="0" algn="l">
              <a:spcBef>
                <a:spcPts val="0"/>
              </a:spcBef>
              <a:spcAft>
                <a:spcPts val="0"/>
              </a:spcAft>
              <a:buClr>
                <a:schemeClr val="dk1"/>
              </a:buClr>
              <a:buSzPts val="1100"/>
              <a:buFont typeface="Arial"/>
              <a:buNone/>
            </a:pPr>
            <a:r>
              <a:t/>
            </a:r>
            <a:endParaRPr i="1" sz="1100"/>
          </a:p>
          <a:p>
            <a:pPr indent="0" lvl="0" marL="0" rtl="0" algn="l">
              <a:spcBef>
                <a:spcPts val="0"/>
              </a:spcBef>
              <a:spcAft>
                <a:spcPts val="0"/>
              </a:spcAft>
              <a:buNone/>
            </a:pPr>
            <a:r>
              <a:rPr b="1" lang="en" sz="1300"/>
              <a:t>OUTPUT</a:t>
            </a:r>
            <a:r>
              <a:rPr lang="en" sz="1300"/>
              <a:t>: REST API endpoints for </a:t>
            </a:r>
            <a:endParaRPr sz="1300"/>
          </a:p>
          <a:p>
            <a:pPr indent="0" lvl="0" marL="0" rtl="0" algn="l">
              <a:spcBef>
                <a:spcPts val="1200"/>
              </a:spcBef>
              <a:spcAft>
                <a:spcPts val="0"/>
              </a:spcAft>
              <a:buNone/>
            </a:pPr>
            <a:r>
              <a:rPr lang="en" sz="1300"/>
              <a:t>application layer to communicate </a:t>
            </a:r>
            <a:endParaRPr sz="1300"/>
          </a:p>
          <a:p>
            <a:pPr indent="0" lvl="0" marL="0" rtl="0" algn="l">
              <a:spcBef>
                <a:spcPts val="1200"/>
              </a:spcBef>
              <a:spcAft>
                <a:spcPts val="1200"/>
              </a:spcAft>
              <a:buNone/>
            </a:pPr>
            <a:r>
              <a:rPr lang="en" sz="1300"/>
              <a:t>with the Controller</a:t>
            </a:r>
            <a:endParaRPr sz="1300"/>
          </a:p>
        </p:txBody>
      </p:sp>
      <p:pic>
        <p:nvPicPr>
          <p:cNvPr id="151" name="Google Shape;151;p29"/>
          <p:cNvPicPr preferRelativeResize="0"/>
          <p:nvPr/>
        </p:nvPicPr>
        <p:blipFill rotWithShape="1">
          <a:blip r:embed="rId3">
            <a:alphaModFix/>
          </a:blip>
          <a:srcRect b="25824" l="11037" r="16440" t="6908"/>
          <a:stretch/>
        </p:blipFill>
        <p:spPr>
          <a:xfrm>
            <a:off x="3676125" y="1433475"/>
            <a:ext cx="4973600" cy="3459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4. </a:t>
            </a:r>
            <a:r>
              <a:rPr lang="en"/>
              <a:t>Flow Rule Assignment</a:t>
            </a:r>
            <a:endParaRPr/>
          </a:p>
        </p:txBody>
      </p:sp>
      <p:sp>
        <p:nvSpPr>
          <p:cNvPr id="157" name="Google Shape;157;p3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t>INPUT </a:t>
            </a:r>
            <a:r>
              <a:rPr lang="en" sz="1300"/>
              <a:t>: Malicious IP from </a:t>
            </a:r>
            <a:endParaRPr sz="1300"/>
          </a:p>
          <a:p>
            <a:pPr indent="0" lvl="0" marL="0" rtl="0" algn="l">
              <a:spcBef>
                <a:spcPts val="1200"/>
              </a:spcBef>
              <a:spcAft>
                <a:spcPts val="0"/>
              </a:spcAft>
              <a:buNone/>
            </a:pPr>
            <a:r>
              <a:rPr lang="en" sz="1300"/>
              <a:t>Classification Engine/</a:t>
            </a:r>
            <a:endParaRPr sz="1300"/>
          </a:p>
          <a:p>
            <a:pPr indent="0" lvl="0" marL="0" rtl="0" algn="l">
              <a:spcBef>
                <a:spcPts val="1200"/>
              </a:spcBef>
              <a:spcAft>
                <a:spcPts val="0"/>
              </a:spcAft>
              <a:buNone/>
            </a:pPr>
            <a:r>
              <a:rPr lang="en" sz="1300"/>
              <a:t>Legit IP from captcha </a:t>
            </a:r>
            <a:endParaRPr sz="1300"/>
          </a:p>
          <a:p>
            <a:pPr indent="0" lvl="0" marL="0" rtl="0" algn="l">
              <a:spcBef>
                <a:spcPts val="1200"/>
              </a:spcBef>
              <a:spcAft>
                <a:spcPts val="0"/>
              </a:spcAft>
              <a:buNone/>
            </a:pPr>
            <a:r>
              <a:rPr lang="en" sz="1300"/>
              <a:t>engine</a:t>
            </a:r>
            <a:endParaRPr sz="1300"/>
          </a:p>
          <a:p>
            <a:pPr indent="0" lvl="0" marL="0" rtl="0" algn="l">
              <a:spcBef>
                <a:spcPts val="1200"/>
              </a:spcBef>
              <a:spcAft>
                <a:spcPts val="0"/>
              </a:spcAft>
              <a:buNone/>
            </a:pPr>
            <a:r>
              <a:rPr b="1" lang="en" sz="1300"/>
              <a:t>OUTPUT </a:t>
            </a:r>
            <a:r>
              <a:rPr lang="en" sz="1300"/>
              <a:t>: Flow rule to the </a:t>
            </a:r>
            <a:endParaRPr sz="1300"/>
          </a:p>
          <a:p>
            <a:pPr indent="0" lvl="0" marL="0" rtl="0" algn="l">
              <a:spcBef>
                <a:spcPts val="1200"/>
              </a:spcBef>
              <a:spcAft>
                <a:spcPts val="1200"/>
              </a:spcAft>
              <a:buNone/>
            </a:pPr>
            <a:r>
              <a:rPr lang="en" sz="1300"/>
              <a:t>switch</a:t>
            </a:r>
            <a:endParaRPr sz="1300"/>
          </a:p>
        </p:txBody>
      </p:sp>
      <p:pic>
        <p:nvPicPr>
          <p:cNvPr id="158" name="Google Shape;158;p30"/>
          <p:cNvPicPr preferRelativeResize="0"/>
          <p:nvPr/>
        </p:nvPicPr>
        <p:blipFill rotWithShape="1">
          <a:blip r:embed="rId3">
            <a:alphaModFix/>
          </a:blip>
          <a:srcRect b="14977" l="3313" r="-779" t="10656"/>
          <a:stretch/>
        </p:blipFill>
        <p:spPr>
          <a:xfrm>
            <a:off x="2460050" y="1225225"/>
            <a:ext cx="6683951" cy="3824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DATASET</a:t>
            </a:r>
            <a:endParaRPr/>
          </a:p>
        </p:txBody>
      </p:sp>
      <p:sp>
        <p:nvSpPr>
          <p:cNvPr id="164" name="Google Shape;164;p3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We use the datasets produced by Canadian Institute for Cybersecurity. We collect samples for malicious and benign traffic from three different datasets, produced in three different environments to build a random forest classifier. Source: [17]</a:t>
            </a:r>
            <a:endParaRPr sz="1300"/>
          </a:p>
          <a:p>
            <a:pPr indent="-311150" lvl="0" marL="457200" rtl="0" algn="l">
              <a:spcBef>
                <a:spcPts val="1200"/>
              </a:spcBef>
              <a:spcAft>
                <a:spcPts val="0"/>
              </a:spcAft>
              <a:buSzPts val="1300"/>
              <a:buAutoNum type="arabicPeriod"/>
            </a:pPr>
            <a:r>
              <a:rPr b="1" lang="en" sz="1300"/>
              <a:t>CSE-CIC-IDS2018 on AWS</a:t>
            </a:r>
            <a:r>
              <a:rPr lang="en" sz="1300"/>
              <a:t> - In CSE-CIC-IDS2018 dataset, we use the notion of profiles to generate datasets in a systematic manner, which will contain detailed descriptions of intrusions and abstract distribution models for applications, protocols, or lower level network entities. Link: </a:t>
            </a:r>
            <a:r>
              <a:rPr lang="en" sz="1300" u="sng">
                <a:solidFill>
                  <a:schemeClr val="accent5"/>
                </a:solidFill>
                <a:hlinkClick r:id="rId3">
                  <a:extLst>
                    <a:ext uri="{A12FA001-AC4F-418D-AE19-62706E023703}">
                      <ahyp:hlinkClr val="tx"/>
                    </a:ext>
                  </a:extLst>
                </a:hlinkClick>
              </a:rPr>
              <a:t>https://www.unb.ca/cic/datasets/ids-2018.html</a:t>
            </a:r>
            <a:endParaRPr b="1" sz="1300"/>
          </a:p>
          <a:p>
            <a:pPr indent="-311150" lvl="0" marL="457200" rtl="0" algn="l">
              <a:spcBef>
                <a:spcPts val="0"/>
              </a:spcBef>
              <a:spcAft>
                <a:spcPts val="0"/>
              </a:spcAft>
              <a:buSzPts val="1300"/>
              <a:buAutoNum type="arabicPeriod"/>
            </a:pPr>
            <a:r>
              <a:rPr b="1" lang="en" sz="1300"/>
              <a:t>Intrusion Detection Evaluation Dataset (CIC-IDS2017)</a:t>
            </a:r>
            <a:r>
              <a:rPr lang="en" sz="1300"/>
              <a:t> - CICIDS2017 dataset contains benign and the most up-to-date common attacks, which resembles the true real-world data (PCAPs). - Link - </a:t>
            </a:r>
            <a:r>
              <a:rPr lang="en" sz="1300" u="sng">
                <a:solidFill>
                  <a:schemeClr val="hlink"/>
                </a:solidFill>
                <a:hlinkClick r:id="rId4"/>
              </a:rPr>
              <a:t>https://www.unb.ca/cic/datasets/ids-2017.html</a:t>
            </a:r>
            <a:endParaRPr sz="1300"/>
          </a:p>
          <a:p>
            <a:pPr indent="-311150" lvl="0" marL="457200" rtl="0" algn="l">
              <a:spcBef>
                <a:spcPts val="0"/>
              </a:spcBef>
              <a:spcAft>
                <a:spcPts val="0"/>
              </a:spcAft>
              <a:buSzPts val="1300"/>
              <a:buAutoNum type="arabicPeriod"/>
            </a:pPr>
            <a:r>
              <a:rPr b="1" lang="en" sz="1300"/>
              <a:t>CIC DoS dataset (2017)</a:t>
            </a:r>
            <a:r>
              <a:rPr lang="en" sz="1300"/>
              <a:t> -  Generated application layer DoS attacks were intermixed with the attack-free traces from the ISCX-IDS dataset. Link - </a:t>
            </a:r>
            <a:r>
              <a:rPr lang="en" sz="1300" u="sng">
                <a:solidFill>
                  <a:schemeClr val="hlink"/>
                </a:solidFill>
                <a:hlinkClick r:id="rId5"/>
              </a:rPr>
              <a:t>https://www.unb.ca/cic/datasets/ids-2018.html</a:t>
            </a:r>
            <a:endParaRPr sz="1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PERFORMANCE MEASURES</a:t>
            </a:r>
            <a:endParaRPr/>
          </a:p>
        </p:txBody>
      </p:sp>
      <p:sp>
        <p:nvSpPr>
          <p:cNvPr id="170" name="Google Shape;170;p3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Open Sans SemiBold"/>
                <a:ea typeface="Open Sans SemiBold"/>
                <a:cs typeface="Open Sans SemiBold"/>
                <a:sym typeface="Open Sans SemiBold"/>
              </a:rPr>
              <a:t>ANOMALY DETECTION PERFORMANCE</a:t>
            </a:r>
            <a:endParaRPr>
              <a:latin typeface="Open Sans SemiBold"/>
              <a:ea typeface="Open Sans SemiBold"/>
              <a:cs typeface="Open Sans SemiBold"/>
              <a:sym typeface="Open Sans SemiBold"/>
            </a:endParaRPr>
          </a:p>
          <a:p>
            <a:pPr indent="0" lvl="0" marL="0" rtl="0" algn="l">
              <a:spcBef>
                <a:spcPts val="1200"/>
              </a:spcBef>
              <a:spcAft>
                <a:spcPts val="0"/>
              </a:spcAft>
              <a:buNone/>
            </a:pPr>
            <a:r>
              <a:rPr lang="en" sz="1300">
                <a:latin typeface="Roboto"/>
                <a:ea typeface="Roboto"/>
                <a:cs typeface="Roboto"/>
                <a:sym typeface="Roboto"/>
              </a:rPr>
              <a:t>Accuracy is the ratio of the total number of correct predictions and the total number of predictions.</a:t>
            </a:r>
            <a:endParaRPr sz="1300">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lang="en" sz="1300">
                <a:latin typeface="Roboto"/>
                <a:ea typeface="Roboto"/>
                <a:cs typeface="Roboto"/>
                <a:sym typeface="Roboto"/>
              </a:rPr>
              <a:t>Precision is the ratio between the True Positives and all the Positives.</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lang="en" sz="1300">
                <a:latin typeface="Roboto"/>
                <a:ea typeface="Roboto"/>
                <a:cs typeface="Roboto"/>
                <a:sym typeface="Roboto"/>
              </a:rPr>
              <a:t>The recall is the measure of our model correctly identifying True Positives.</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300">
              <a:latin typeface="Roboto"/>
              <a:ea typeface="Roboto"/>
              <a:cs typeface="Roboto"/>
              <a:sym typeface="Roboto"/>
            </a:endParaRPr>
          </a:p>
        </p:txBody>
      </p:sp>
      <p:pic>
        <p:nvPicPr>
          <p:cNvPr id="171" name="Google Shape;171;p32"/>
          <p:cNvPicPr preferRelativeResize="0"/>
          <p:nvPr/>
        </p:nvPicPr>
        <p:blipFill>
          <a:blip r:embed="rId3">
            <a:alphaModFix/>
          </a:blip>
          <a:stretch>
            <a:fillRect/>
          </a:stretch>
        </p:blipFill>
        <p:spPr>
          <a:xfrm>
            <a:off x="1776025" y="2079325"/>
            <a:ext cx="5316500" cy="548200"/>
          </a:xfrm>
          <a:prstGeom prst="rect">
            <a:avLst/>
          </a:prstGeom>
          <a:noFill/>
          <a:ln>
            <a:noFill/>
          </a:ln>
        </p:spPr>
      </p:pic>
      <p:pic>
        <p:nvPicPr>
          <p:cNvPr id="172" name="Google Shape;172;p32"/>
          <p:cNvPicPr preferRelativeResize="0"/>
          <p:nvPr/>
        </p:nvPicPr>
        <p:blipFill>
          <a:blip r:embed="rId4">
            <a:alphaModFix/>
          </a:blip>
          <a:stretch>
            <a:fillRect/>
          </a:stretch>
        </p:blipFill>
        <p:spPr>
          <a:xfrm>
            <a:off x="1776025" y="3114213"/>
            <a:ext cx="3503591" cy="436650"/>
          </a:xfrm>
          <a:prstGeom prst="rect">
            <a:avLst/>
          </a:prstGeom>
          <a:noFill/>
          <a:ln>
            <a:noFill/>
          </a:ln>
        </p:spPr>
      </p:pic>
      <p:pic>
        <p:nvPicPr>
          <p:cNvPr id="173" name="Google Shape;173;p32"/>
          <p:cNvPicPr preferRelativeResize="0"/>
          <p:nvPr/>
        </p:nvPicPr>
        <p:blipFill>
          <a:blip r:embed="rId5">
            <a:alphaModFix/>
          </a:blip>
          <a:stretch>
            <a:fillRect/>
          </a:stretch>
        </p:blipFill>
        <p:spPr>
          <a:xfrm>
            <a:off x="1974300" y="3839250"/>
            <a:ext cx="2786971" cy="436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PERFORMANCE MEASURES</a:t>
            </a:r>
            <a:endParaRPr/>
          </a:p>
        </p:txBody>
      </p:sp>
      <p:sp>
        <p:nvSpPr>
          <p:cNvPr id="179" name="Google Shape;179;p3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latin typeface="Roboto"/>
                <a:ea typeface="Roboto"/>
                <a:cs typeface="Roboto"/>
                <a:sym typeface="Roboto"/>
              </a:rPr>
              <a:t>F1-score is the Harmonic mean of the Precision and Recall.</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lang="en">
                <a:latin typeface="Open Sans SemiBold"/>
                <a:ea typeface="Open Sans SemiBold"/>
                <a:cs typeface="Open Sans SemiBold"/>
                <a:sym typeface="Open Sans SemiBold"/>
              </a:rPr>
              <a:t>MITIGATION </a:t>
            </a:r>
            <a:endParaRPr>
              <a:latin typeface="Open Sans SemiBold"/>
              <a:ea typeface="Open Sans SemiBold"/>
              <a:cs typeface="Open Sans SemiBold"/>
              <a:sym typeface="Open Sans SemiBold"/>
            </a:endParaRPr>
          </a:p>
          <a:p>
            <a:pPr indent="0" lvl="0" marL="0" rtl="0" algn="l">
              <a:spcBef>
                <a:spcPts val="0"/>
              </a:spcBef>
              <a:spcAft>
                <a:spcPts val="0"/>
              </a:spcAft>
              <a:buNone/>
            </a:pPr>
            <a:r>
              <a:rPr lang="en" sz="1300">
                <a:latin typeface="Roboto"/>
                <a:ea typeface="Roboto"/>
                <a:cs typeface="Roboto"/>
                <a:sym typeface="Roboto"/>
              </a:rPr>
              <a:t>File Transfer Time is the elapsed time between the end of an inquiry or demand on a computer system and the beginning of a response. We are going to compare the file transfer time with and without mitigation of malicious traffic.</a:t>
            </a:r>
            <a:endParaRPr sz="13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300">
              <a:latin typeface="Roboto"/>
              <a:ea typeface="Roboto"/>
              <a:cs typeface="Roboto"/>
              <a:sym typeface="Roboto"/>
            </a:endParaRPr>
          </a:p>
        </p:txBody>
      </p:sp>
      <p:pic>
        <p:nvPicPr>
          <p:cNvPr id="180" name="Google Shape;180;p33"/>
          <p:cNvPicPr preferRelativeResize="0"/>
          <p:nvPr/>
        </p:nvPicPr>
        <p:blipFill>
          <a:blip r:embed="rId3">
            <a:alphaModFix/>
          </a:blip>
          <a:stretch>
            <a:fillRect/>
          </a:stretch>
        </p:blipFill>
        <p:spPr>
          <a:xfrm>
            <a:off x="1974325" y="1757075"/>
            <a:ext cx="3032850" cy="533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86" name="Google Shape;186;p3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Yu, S., Zhang, J., Liu, J. et al. A cooperative DDoS attack detection scheme based on entropy and ensemble learning in SDN. J Wireless Com Network 2021, 90 (2021). https://doi.org/10.1186/s13638-021-01957-9</a:t>
            </a:r>
            <a:endParaRPr b="1"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L. Tan, Y. Pan, J. Wu, J. Zhou, H. Jiang and Y. Deng, "A New Framework for DDoS Attack Detection and Defense in SDN Environment," in IEEE Access, vol. 8, pp. 161908-161919, 2020, doi: 10.1109/ACCESS.2020.3021435.</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Lima Filho Francisco Sales de, Silveira Frederico A. F., de Medeiros Brito Junior Agostinho, Vargas-Solar Genoveva, Silveira Luiz F., “Smart Detection: An Online Approach for DoS/DDoS Attack Detection Using Machine Learning”, Security and Communication Networks Hindawi, 2019</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Reena Singh Rajput, Dr. Sanjay Agrawal, A Survey on Denial of Service Attack Detection Techniques in Cloud Computing, International Journal for Scientific Research &amp; Development| Vol. 4, Issue 06, 2016 | ISSN (online): 2321-0613</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Research, Mahadev &amp; Kumar, Vinod &amp; Sharma, Himani. (2019). Detection and Analysis of DDOS Attack at Application Layer Using Naïve Bayes Classifier. 208-217. </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Liguo Chen, Yuedong Zhang, Qi Zhao, Guanggang Geng, ZhiWei Yan, Detection of DNS DDoS Attacks with Random Forest Algorithm on Spark, Procedia Computer Science, Volume 134, 2018, Pages 310-315, ISSN 1877-0509</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N. Meti, D. G. Narayan and V. P. Baligar, "Detection of distributed denial of service attacks using machine learning algorithms in software defined networks," 2017 International Conference on Advances in Computing, Communications and Informatics (ICACCI), 2017, pp. 1366-1371, doi: 10.1109/ICACCI.2017.8126031.</a:t>
            </a:r>
            <a:endParaRPr sz="1100">
              <a:latin typeface="Roboto"/>
              <a:ea typeface="Roboto"/>
              <a:cs typeface="Roboto"/>
              <a:sym typeface="Roboto"/>
            </a:endParaRPr>
          </a:p>
          <a:p>
            <a:pPr indent="-293211" lvl="0" marL="457200" rtl="0" algn="l">
              <a:spcBef>
                <a:spcPts val="0"/>
              </a:spcBef>
              <a:spcAft>
                <a:spcPts val="0"/>
              </a:spcAft>
              <a:buSzPct val="100000"/>
              <a:buFont typeface="Roboto"/>
              <a:buAutoNum type="arabicPeriod"/>
            </a:pPr>
            <a:r>
              <a:rPr lang="en" sz="1100">
                <a:latin typeface="Roboto"/>
                <a:ea typeface="Roboto"/>
                <a:cs typeface="Roboto"/>
                <a:sym typeface="Roboto"/>
              </a:rPr>
              <a:t>Allam S.K., Prasad G.S. (2021) Prevention of DDoS Attacks and Detection on Cloud Environment—A Review and Survey. In: Satapathy S., Bhateja V., Janakiramaiah B., Chen YW. (eds) Intelligent System Design. Advances in Intelligent Systems and Computing, vol 1171. Springer, Singapore. https://doi.org/10.1007/978-981-15-5400-1_47</a:t>
            </a:r>
            <a:endParaRPr sz="1100">
              <a:latin typeface="Roboto"/>
              <a:ea typeface="Roboto"/>
              <a:cs typeface="Roboto"/>
              <a:sym typeface="Roboto"/>
            </a:endParaRPr>
          </a:p>
          <a:p>
            <a:pPr indent="0" lvl="0" marL="457200" rtl="0" algn="l">
              <a:spcBef>
                <a:spcPts val="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92" name="Google Shape;192;p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SzPts val="1100"/>
              <a:buFont typeface="Roboto"/>
              <a:buAutoNum type="arabicPeriod" startAt="9"/>
            </a:pPr>
            <a:r>
              <a:rPr lang="en" sz="1100">
                <a:latin typeface="Roboto"/>
                <a:ea typeface="Roboto"/>
                <a:cs typeface="Roboto"/>
                <a:sym typeface="Roboto"/>
              </a:rPr>
              <a:t>Boukari Souley, Hauwa Abubakar, A CAPTCHA – BASED INTRUSION DETECTION</a:t>
            </a:r>
            <a:endParaRPr sz="1100">
              <a:latin typeface="Roboto"/>
              <a:ea typeface="Roboto"/>
              <a:cs typeface="Roboto"/>
              <a:sym typeface="Roboto"/>
            </a:endParaRPr>
          </a:p>
          <a:p>
            <a:pPr indent="0" lvl="0" marL="457200" rtl="0" algn="l">
              <a:spcBef>
                <a:spcPts val="0"/>
              </a:spcBef>
              <a:spcAft>
                <a:spcPts val="0"/>
              </a:spcAft>
              <a:buClr>
                <a:schemeClr val="dk1"/>
              </a:buClr>
              <a:buSzPts val="1100"/>
              <a:buFont typeface="Arial"/>
              <a:buNone/>
            </a:pPr>
            <a:r>
              <a:rPr lang="en" sz="1100">
                <a:latin typeface="Roboto"/>
                <a:ea typeface="Roboto"/>
                <a:cs typeface="Roboto"/>
                <a:sym typeface="Roboto"/>
              </a:rPr>
              <a:t>MODEL,</a:t>
            </a:r>
            <a:r>
              <a:rPr lang="en" sz="1100">
                <a:latin typeface="Arial"/>
                <a:ea typeface="Arial"/>
                <a:cs typeface="Arial"/>
                <a:sym typeface="Arial"/>
              </a:rPr>
              <a:t>International Journal of Software Engineering &amp; Applications (IJSEA), Vol.9, No.1, January 2018</a:t>
            </a:r>
            <a:endParaRPr sz="1100">
              <a:latin typeface="Arial"/>
              <a:ea typeface="Arial"/>
              <a:cs typeface="Arial"/>
              <a:sym typeface="Arial"/>
            </a:endParaRPr>
          </a:p>
          <a:p>
            <a:pPr indent="-311150" lvl="0" marL="457200" rtl="0" algn="l">
              <a:spcBef>
                <a:spcPts val="0"/>
              </a:spcBef>
              <a:spcAft>
                <a:spcPts val="0"/>
              </a:spcAft>
              <a:buSzPts val="1300"/>
              <a:buFont typeface="Roboto"/>
              <a:buAutoNum type="arabicPeriod" startAt="9"/>
            </a:pPr>
            <a:r>
              <a:rPr lang="en" sz="1100">
                <a:latin typeface="Arial"/>
                <a:ea typeface="Arial"/>
                <a:cs typeface="Arial"/>
                <a:sym typeface="Arial"/>
              </a:rPr>
              <a:t>Manu, B. (2016). A Survey on Secure Network: Intrusion Detection &amp; Prevention Approaches. American Journal of Information Systems, Vol. 4, No. 3,Science &amp; Education Publishing, pp 69-88.</a:t>
            </a:r>
            <a:endParaRPr sz="1100">
              <a:latin typeface="Arial"/>
              <a:ea typeface="Arial"/>
              <a:cs typeface="Arial"/>
              <a:sym typeface="Arial"/>
            </a:endParaRPr>
          </a:p>
          <a:p>
            <a:pPr indent="-298450" lvl="0" marL="457200" rtl="0" algn="l">
              <a:spcBef>
                <a:spcPts val="0"/>
              </a:spcBef>
              <a:spcAft>
                <a:spcPts val="0"/>
              </a:spcAft>
              <a:buSzPts val="1100"/>
              <a:buFont typeface="Roboto"/>
              <a:buAutoNum type="arabicPeriod" startAt="9"/>
            </a:pPr>
            <a:r>
              <a:rPr lang="en" sz="1100" u="sng">
                <a:solidFill>
                  <a:srgbClr val="1155CC"/>
                </a:solidFill>
                <a:latin typeface="Roboto"/>
                <a:ea typeface="Roboto"/>
                <a:cs typeface="Roboto"/>
                <a:sym typeface="Roboto"/>
                <a:hlinkClick r:id="rId3">
                  <a:extLst>
                    <a:ext uri="{A12FA001-AC4F-418D-AE19-62706E023703}">
                      <ahyp:hlinkClr val="tx"/>
                    </a:ext>
                  </a:extLst>
                </a:hlinkClick>
              </a:rPr>
              <a:t>http://mininet.org/</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u="sng">
                <a:solidFill>
                  <a:srgbClr val="1155CC"/>
                </a:solidFill>
                <a:latin typeface="Roboto"/>
                <a:ea typeface="Roboto"/>
                <a:cs typeface="Roboto"/>
                <a:sym typeface="Roboto"/>
                <a:hlinkClick r:id="rId4">
                  <a:extLst>
                    <a:ext uri="{A12FA001-AC4F-418D-AE19-62706E023703}">
                      <ahyp:hlinkClr val="tx"/>
                    </a:ext>
                  </a:extLst>
                </a:hlinkClick>
              </a:rPr>
              <a:t>https://www.openvswitch.org/</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u="sng">
                <a:solidFill>
                  <a:srgbClr val="1155CC"/>
                </a:solidFill>
                <a:latin typeface="Roboto"/>
                <a:ea typeface="Roboto"/>
                <a:cs typeface="Roboto"/>
                <a:sym typeface="Roboto"/>
                <a:hlinkClick r:id="rId5">
                  <a:extLst>
                    <a:ext uri="{A12FA001-AC4F-418D-AE19-62706E023703}">
                      <ahyp:hlinkClr val="tx"/>
                    </a:ext>
                  </a:extLst>
                </a:hlinkClick>
              </a:rPr>
              <a:t>https://www.google.com/recaptcha/about/</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a:latin typeface="Roboto"/>
                <a:ea typeface="Roboto"/>
                <a:cs typeface="Roboto"/>
                <a:sym typeface="Roboto"/>
              </a:rPr>
              <a:t>Iman Sharafaldin, Arash Habibi Lashkari, and Ali A. Ghorbani, “Toward Generating a New Intrusion Detection Dataset and Intrusion Traffic Characterization”, 4th International Conference on Information Systems Security and Privacy (ICISSP), Portugal, January 2018</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a:latin typeface="Roboto"/>
                <a:ea typeface="Roboto"/>
                <a:cs typeface="Roboto"/>
                <a:sym typeface="Roboto"/>
              </a:rPr>
              <a:t>Hossein Hadian Jazi, Hugo Gonzalez, Natalia Stakhanova, and Ali A. Ghorbani. "Detecting HTTP-based Application Layer DoS attacks on Web Servers in the presence of sampling." Computer Networks, 2017</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a:latin typeface="Roboto"/>
                <a:ea typeface="Roboto"/>
                <a:cs typeface="Roboto"/>
                <a:sym typeface="Roboto"/>
              </a:rPr>
              <a:t>Ali Shiravi, Hadi Shiravi, Mahbod Tavallaee, Ali A. Ghorbani, Toward developing a systematic approach to generate benchmark datasets for intrusion detection, Computers &amp; Security, Volume 31, Issue 3, May 2012, Pages 357-374, ISSN 0167-4048, 10.1016/j.cose.2011.12.012.</a:t>
            </a:r>
            <a:endParaRPr sz="1100">
              <a:latin typeface="Roboto"/>
              <a:ea typeface="Roboto"/>
              <a:cs typeface="Roboto"/>
              <a:sym typeface="Roboto"/>
            </a:endParaRPr>
          </a:p>
          <a:p>
            <a:pPr indent="-298450" lvl="0" marL="457200" rtl="0" algn="l">
              <a:spcBef>
                <a:spcPts val="0"/>
              </a:spcBef>
              <a:spcAft>
                <a:spcPts val="0"/>
              </a:spcAft>
              <a:buSzPts val="1100"/>
              <a:buFont typeface="Roboto"/>
              <a:buAutoNum type="arabicPeriod" startAt="9"/>
            </a:pPr>
            <a:r>
              <a:rPr lang="en" sz="1100">
                <a:latin typeface="Roboto"/>
                <a:ea typeface="Roboto"/>
                <a:cs typeface="Roboto"/>
                <a:sym typeface="Roboto"/>
              </a:rPr>
              <a:t>M Devendra Prasad, Prasanta Babu V, C Amarnath, “Machine Learning DDoS Detection Using Stochastic Gradient Boosting,” International Journal of Computer Sciences and Engineering, Vol.7, Issue.4, pp.157-166, 2019.</a:t>
            </a:r>
            <a:endParaRPr sz="11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00">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